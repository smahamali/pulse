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16206C-60CF-44A0-BB92-47CBBB6CFA22}" type="datetimeFigureOut">
              <a:rPr lang="en-GB" smtClean="0"/>
              <a:t>25/10/2026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17CEA8-5FF3-419F-8BF8-73A5A8593898}" type="slidenum">
              <a:rPr lang="en-GB" smtClean="0"/>
              <a:t>‹#›</a:t>
            </a:fld>
            <a:endParaRPr lang="en-GB"/>
          </a:p>
        </p:txBody>
      </p:sp>
    </p:spTree>
    <p:extLst>
      <p:ext uri="{BB962C8B-B14F-4D97-AF65-F5344CB8AC3E}">
        <p14:creationId xmlns:p14="http://schemas.microsoft.com/office/powerpoint/2010/main" val="1832572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0:00-0:20. Introduce Pulse and the team. Suggested opening: Pulse is our healthcare hackathon prototype for helping patients and staff stay connected while patients wait in A&amp;E. Use the next six slides for the pitch, then Questions. Slide 8 is a spare editable layout. The waveform is decorative, not a measured ECG. Design source: static/styles.css, static/favicon.svg and templates/macros.html.</a:t>
            </a:r>
            <a:endParaRPr lang="en-GB"/>
          </a:p>
        </p:txBody>
      </p:sp>
      <p:sp>
        <p:nvSpPr>
          <p:cNvPr id="4" name="Slide Number Placeholder 3"/>
          <p:cNvSpPr>
            <a:spLocks noGrp="1"/>
          </p:cNvSpPr>
          <p:nvPr>
            <p:ph type="sldNum" sz="quarter" idx="5"/>
          </p:nvPr>
        </p:nvSpPr>
        <p:spPr/>
        <p:txBody>
          <a:bodyPr/>
          <a:lstStyle/>
          <a:p>
            <a:fld id="{7617CEA8-5FF3-419F-8BF8-73A5A8593898}" type="slidenum">
              <a:rPr lang="en-GB" smtClean="0"/>
              <a:t>1</a:t>
            </a:fld>
            <a:endParaRPr lang="en-GB"/>
          </a:p>
        </p:txBody>
      </p:sp>
    </p:spTree>
    <p:extLst>
      <p:ext uri="{BB962C8B-B14F-4D97-AF65-F5344CB8AC3E}">
        <p14:creationId xmlns:p14="http://schemas.microsoft.com/office/powerpoint/2010/main" val="2670249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0:20-0:50. Explain the intended problem in ordinary language. Avoid claims about measured outcomes, NHS endorsement or clinically validated benefits. These are the product goals described in README.md and docs/website-overview.md.</a:t>
            </a:r>
            <a:endParaRPr lang="en-GB"/>
          </a:p>
        </p:txBody>
      </p:sp>
      <p:sp>
        <p:nvSpPr>
          <p:cNvPr id="4" name="Slide Number Placeholder 3"/>
          <p:cNvSpPr>
            <a:spLocks noGrp="1"/>
          </p:cNvSpPr>
          <p:nvPr>
            <p:ph type="sldNum" sz="quarter" idx="5"/>
          </p:nvPr>
        </p:nvSpPr>
        <p:spPr/>
        <p:txBody>
          <a:bodyPr/>
          <a:lstStyle/>
          <a:p>
            <a:fld id="{7617CEA8-5FF3-419F-8BF8-73A5A8593898}" type="slidenum">
              <a:rPr lang="en-GB" smtClean="0"/>
              <a:t>2</a:t>
            </a:fld>
            <a:endParaRPr lang="en-GB"/>
          </a:p>
        </p:txBody>
      </p:sp>
    </p:spTree>
    <p:extLst>
      <p:ext uri="{BB962C8B-B14F-4D97-AF65-F5344CB8AC3E}">
        <p14:creationId xmlns:p14="http://schemas.microsoft.com/office/powerpoint/2010/main" val="86912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0:50-1:25. Explain the implemented demo journey. Registration and hospital selection do not confirm physical arrival. Waiting starts after staff-confirmed check-in. Hospital counts are simulated and selection is not a booking. Source: pulse/services.py and templates/hospitals.html, intake.html, patient.html.</a:t>
            </a:r>
            <a:endParaRPr lang="en-GB"/>
          </a:p>
        </p:txBody>
      </p:sp>
      <p:sp>
        <p:nvSpPr>
          <p:cNvPr id="4" name="Slide Number Placeholder 3"/>
          <p:cNvSpPr>
            <a:spLocks noGrp="1"/>
          </p:cNvSpPr>
          <p:nvPr>
            <p:ph type="sldNum" sz="quarter" idx="5"/>
          </p:nvPr>
        </p:nvSpPr>
        <p:spPr/>
        <p:txBody>
          <a:bodyPr/>
          <a:lstStyle/>
          <a:p>
            <a:fld id="{7617CEA8-5FF3-419F-8BF8-73A5A8593898}" type="slidenum">
              <a:rPr lang="en-GB" smtClean="0"/>
              <a:t>3</a:t>
            </a:fld>
            <a:endParaRPr lang="en-GB"/>
          </a:p>
        </p:txBody>
      </p:sp>
    </p:spTree>
    <p:extLst>
      <p:ext uri="{BB962C8B-B14F-4D97-AF65-F5344CB8AC3E}">
        <p14:creationId xmlns:p14="http://schemas.microsoft.com/office/powerpoint/2010/main" val="2113335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1:25-2:15. Mohammed: I worked on the website interface using Python Flask, HTML templates and CSS, with Codex helping me implement and review it. Patients can submit intake information and contact staff. Staff can check in a patient, assign a demo band and review new symptoms. We separated the interface from the data service so real connections can replace the demo workflow. The Oracle records view reads stored database data. The main patient workflow still uses synthetic data. Source: app.py, pulse/__init__.py, pulse/services.py, pulse/oracle.py and templates/. Screenshot: actual local login screen with fictional demo content. Demo role entry is not real authentication.</a:t>
            </a:r>
            <a:endParaRPr lang="en-GB"/>
          </a:p>
        </p:txBody>
      </p:sp>
      <p:sp>
        <p:nvSpPr>
          <p:cNvPr id="4" name="Slide Number Placeholder 3"/>
          <p:cNvSpPr>
            <a:spLocks noGrp="1"/>
          </p:cNvSpPr>
          <p:nvPr>
            <p:ph type="sldNum" sz="quarter" idx="5"/>
          </p:nvPr>
        </p:nvSpPr>
        <p:spPr/>
        <p:txBody>
          <a:bodyPr/>
          <a:lstStyle/>
          <a:p>
            <a:fld id="{7617CEA8-5FF3-419F-8BF8-73A5A8593898}" type="slidenum">
              <a:rPr lang="en-GB" smtClean="0"/>
              <a:t>4</a:t>
            </a:fld>
            <a:endParaRPr lang="en-GB"/>
          </a:p>
        </p:txBody>
      </p:sp>
    </p:spTree>
    <p:extLst>
      <p:ext uri="{BB962C8B-B14F-4D97-AF65-F5344CB8AC3E}">
        <p14:creationId xmlns:p14="http://schemas.microsoft.com/office/powerpoint/2010/main" val="2992388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2:15-3:15. Handoff to Mostafa, Maham and Elysha. Each teammate should replace the AI placeholder and explain only what they have verified. This is the intended sensor-to-screen path. Website code already includes a protected read-only Oracle client, but a fresh sensor record reaching the correct patient still needs an end-to-end check. The notebook exists without a connected website inference service. No model accuracy or hardware performance claim is included. Sources: pulse/oracle.py, integration/ords_read_api.sql, AI_Training.ipynb and docs/INTEGRATION.md.</a:t>
            </a:r>
            <a:endParaRPr lang="en-GB"/>
          </a:p>
        </p:txBody>
      </p:sp>
      <p:sp>
        <p:nvSpPr>
          <p:cNvPr id="4" name="Slide Number Placeholder 3"/>
          <p:cNvSpPr>
            <a:spLocks noGrp="1"/>
          </p:cNvSpPr>
          <p:nvPr>
            <p:ph type="sldNum" sz="quarter" idx="5"/>
          </p:nvPr>
        </p:nvSpPr>
        <p:spPr/>
        <p:txBody>
          <a:bodyPr/>
          <a:lstStyle/>
          <a:p>
            <a:fld id="{7617CEA8-5FF3-419F-8BF8-73A5A8593898}" type="slidenum">
              <a:rPr lang="en-GB" smtClean="0"/>
              <a:t>5</a:t>
            </a:fld>
            <a:endParaRPr lang="en-GB"/>
          </a:p>
        </p:txBody>
      </p:sp>
    </p:spTree>
    <p:extLst>
      <p:ext uri="{BB962C8B-B14F-4D97-AF65-F5344CB8AC3E}">
        <p14:creationId xmlns:p14="http://schemas.microsoft.com/office/powerpoint/2010/main" val="2731390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3:15-4:00. Update this slide after the team completes fresh sensor verification. Current Oracle records are stored demonstration data. Reading the database does not prove live hardware transmission. Demo workflow actions do not currently write back to Oracle. Real authentication and AI inference remain separate work. Close by inviting a short demonstration or questions. Source: pulse/oracle.py, pulse/services.py, templates/oracle.html and docs/INTEGRATION.md.</a:t>
            </a:r>
            <a:endParaRPr lang="en-GB"/>
          </a:p>
        </p:txBody>
      </p:sp>
      <p:sp>
        <p:nvSpPr>
          <p:cNvPr id="4" name="Slide Number Placeholder 3"/>
          <p:cNvSpPr>
            <a:spLocks noGrp="1"/>
          </p:cNvSpPr>
          <p:nvPr>
            <p:ph type="sldNum" sz="quarter" idx="5"/>
          </p:nvPr>
        </p:nvSpPr>
        <p:spPr/>
        <p:txBody>
          <a:bodyPr/>
          <a:lstStyle/>
          <a:p>
            <a:fld id="{7617CEA8-5FF3-419F-8BF8-73A5A8593898}" type="slidenum">
              <a:rPr lang="en-GB" smtClean="0"/>
              <a:t>6</a:t>
            </a:fld>
            <a:endParaRPr lang="en-GB"/>
          </a:p>
        </p:txBody>
      </p:sp>
    </p:spTree>
    <p:extLst>
      <p:ext uri="{BB962C8B-B14F-4D97-AF65-F5344CB8AC3E}">
        <p14:creationId xmlns:p14="http://schemas.microsoft.com/office/powerpoint/2010/main" val="8059928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Two-minute Q&amp;A. Keep the demonstration ready in another window. Clearly distinguish tested website behaviour, synthetic workflow data, stored Oracle records and any newly verified sensor connection. Let each teammate answer questions about their own hardware, database or AI work.</a:t>
            </a:r>
            <a:endParaRPr lang="en-GB"/>
          </a:p>
        </p:txBody>
      </p:sp>
      <p:sp>
        <p:nvSpPr>
          <p:cNvPr id="4" name="Slide Number Placeholder 3"/>
          <p:cNvSpPr>
            <a:spLocks noGrp="1"/>
          </p:cNvSpPr>
          <p:nvPr>
            <p:ph type="sldNum" sz="quarter" idx="5"/>
          </p:nvPr>
        </p:nvSpPr>
        <p:spPr/>
        <p:txBody>
          <a:bodyPr/>
          <a:lstStyle/>
          <a:p>
            <a:fld id="{7617CEA8-5FF3-419F-8BF8-73A5A8593898}" type="slidenum">
              <a:rPr lang="en-GB" smtClean="0"/>
              <a:t>7</a:t>
            </a:fld>
            <a:endParaRPr lang="en-GB"/>
          </a:p>
        </p:txBody>
      </p:sp>
    </p:spTree>
    <p:extLst>
      <p:ext uri="{BB962C8B-B14F-4D97-AF65-F5344CB8AC3E}">
        <p14:creationId xmlns:p14="http://schemas.microsoft.com/office/powerpoint/2010/main" val="3597008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Spare editable layout. Duplicate this slide for additional hardware, database or AI content. Replace bracketed text before showing it. Keep numbers and claims backed by a teammate-verified result. Do not include private API keys, passwords or identifiable health data in images. Website palette: #101416 background, #F1F3F4 text, #B2BDC3 muted text, #F16B6B accent. Typeface: Arial for portability.</a:t>
            </a:r>
          </a:p>
        </p:txBody>
      </p:sp>
      <p:sp>
        <p:nvSpPr>
          <p:cNvPr id="4" name="Slide Number Placeholder 3"/>
          <p:cNvSpPr>
            <a:spLocks noGrp="1"/>
          </p:cNvSpPr>
          <p:nvPr>
            <p:ph type="sldNum" sz="quarter" idx="5"/>
          </p:nvPr>
        </p:nvSpPr>
        <p:spPr/>
        <p:txBody>
          <a:bodyPr/>
          <a:lstStyle/>
          <a:p>
            <a:fld id="{7617CEA8-5FF3-419F-8BF8-73A5A8593898}" type="slidenum">
              <a:rPr lang="en-GB" smtClean="0"/>
              <a:t>8</a:t>
            </a:fld>
            <a:endParaRPr lang="en-GB"/>
          </a:p>
        </p:txBody>
      </p:sp>
    </p:spTree>
    <p:extLst>
      <p:ext uri="{BB962C8B-B14F-4D97-AF65-F5344CB8AC3E}">
        <p14:creationId xmlns:p14="http://schemas.microsoft.com/office/powerpoint/2010/main" val="1049571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68980-67DB-5041-EB16-2299EEA0C7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4BC2CD3-CA50-FDD2-CB75-9EAF82EAC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5567365-A2FE-1268-3045-09442D3592C2}"/>
              </a:ext>
            </a:extLst>
          </p:cNvPr>
          <p:cNvSpPr>
            <a:spLocks noGrp="1"/>
          </p:cNvSpPr>
          <p:nvPr>
            <p:ph type="dt" sz="half" idx="10"/>
          </p:nvPr>
        </p:nvSpPr>
        <p:spPr/>
        <p:txBody>
          <a:bodyPr/>
          <a:lstStyle/>
          <a:p>
            <a:fld id="{98E8FD3E-B289-40DD-BD11-F205C39D9094}" type="datetimeFigureOut">
              <a:rPr lang="en-GB" smtClean="0"/>
              <a:t>25/10/2026</a:t>
            </a:fld>
            <a:endParaRPr lang="en-GB"/>
          </a:p>
        </p:txBody>
      </p:sp>
      <p:sp>
        <p:nvSpPr>
          <p:cNvPr id="5" name="Footer Placeholder 4">
            <a:extLst>
              <a:ext uri="{FF2B5EF4-FFF2-40B4-BE49-F238E27FC236}">
                <a16:creationId xmlns:a16="http://schemas.microsoft.com/office/drawing/2014/main" id="{B5906BC6-B3D4-865F-921B-0285A178AF2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3CE5E2-A6BB-26B6-7482-FF0A3CC2ED87}"/>
              </a:ext>
            </a:extLst>
          </p:cNvPr>
          <p:cNvSpPr>
            <a:spLocks noGrp="1"/>
          </p:cNvSpPr>
          <p:nvPr>
            <p:ph type="sldNum" sz="quarter" idx="12"/>
          </p:nvPr>
        </p:nvSpPr>
        <p:spPr/>
        <p:txBody>
          <a:bodyPr/>
          <a:lstStyle/>
          <a:p>
            <a:fld id="{7A94AD51-ACFE-467E-B8F1-1E6A1942B04C}" type="slidenum">
              <a:rPr lang="en-GB" smtClean="0"/>
              <a:t>‹#›</a:t>
            </a:fld>
            <a:endParaRPr lang="en-GB"/>
          </a:p>
        </p:txBody>
      </p:sp>
    </p:spTree>
    <p:extLst>
      <p:ext uri="{BB962C8B-B14F-4D97-AF65-F5344CB8AC3E}">
        <p14:creationId xmlns:p14="http://schemas.microsoft.com/office/powerpoint/2010/main" val="3912090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D6475-1621-596B-922F-35044AEA337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204549C-AB06-ADDB-43B7-F45DC3AD2B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EB42CF3-8A80-E01B-364B-26EE1C7DC03D}"/>
              </a:ext>
            </a:extLst>
          </p:cNvPr>
          <p:cNvSpPr>
            <a:spLocks noGrp="1"/>
          </p:cNvSpPr>
          <p:nvPr>
            <p:ph type="dt" sz="half" idx="10"/>
          </p:nvPr>
        </p:nvSpPr>
        <p:spPr/>
        <p:txBody>
          <a:bodyPr/>
          <a:lstStyle/>
          <a:p>
            <a:fld id="{98E8FD3E-B289-40DD-BD11-F205C39D9094}" type="datetimeFigureOut">
              <a:rPr lang="en-GB" smtClean="0"/>
              <a:t>25/10/2026</a:t>
            </a:fld>
            <a:endParaRPr lang="en-GB"/>
          </a:p>
        </p:txBody>
      </p:sp>
      <p:sp>
        <p:nvSpPr>
          <p:cNvPr id="5" name="Footer Placeholder 4">
            <a:extLst>
              <a:ext uri="{FF2B5EF4-FFF2-40B4-BE49-F238E27FC236}">
                <a16:creationId xmlns:a16="http://schemas.microsoft.com/office/drawing/2014/main" id="{96CC822A-6322-FB43-E19E-0C9FFC8036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B405B07-2B64-3EE9-BC93-995712535632}"/>
              </a:ext>
            </a:extLst>
          </p:cNvPr>
          <p:cNvSpPr>
            <a:spLocks noGrp="1"/>
          </p:cNvSpPr>
          <p:nvPr>
            <p:ph type="sldNum" sz="quarter" idx="12"/>
          </p:nvPr>
        </p:nvSpPr>
        <p:spPr/>
        <p:txBody>
          <a:bodyPr/>
          <a:lstStyle/>
          <a:p>
            <a:fld id="{7A94AD51-ACFE-467E-B8F1-1E6A1942B04C}" type="slidenum">
              <a:rPr lang="en-GB" smtClean="0"/>
              <a:t>‹#›</a:t>
            </a:fld>
            <a:endParaRPr lang="en-GB"/>
          </a:p>
        </p:txBody>
      </p:sp>
    </p:spTree>
    <p:extLst>
      <p:ext uri="{BB962C8B-B14F-4D97-AF65-F5344CB8AC3E}">
        <p14:creationId xmlns:p14="http://schemas.microsoft.com/office/powerpoint/2010/main" val="612166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96156-AD85-325D-A478-13C36E8289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AFF0CDB-CFAA-D263-65B2-8B00ECB310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A0854F-954B-EE85-118E-24079A9F94A6}"/>
              </a:ext>
            </a:extLst>
          </p:cNvPr>
          <p:cNvSpPr>
            <a:spLocks noGrp="1"/>
          </p:cNvSpPr>
          <p:nvPr>
            <p:ph type="dt" sz="half" idx="10"/>
          </p:nvPr>
        </p:nvSpPr>
        <p:spPr/>
        <p:txBody>
          <a:bodyPr/>
          <a:lstStyle/>
          <a:p>
            <a:fld id="{98E8FD3E-B289-40DD-BD11-F205C39D9094}" type="datetimeFigureOut">
              <a:rPr lang="en-GB" smtClean="0"/>
              <a:t>25/10/2026</a:t>
            </a:fld>
            <a:endParaRPr lang="en-GB"/>
          </a:p>
        </p:txBody>
      </p:sp>
      <p:sp>
        <p:nvSpPr>
          <p:cNvPr id="5" name="Footer Placeholder 4">
            <a:extLst>
              <a:ext uri="{FF2B5EF4-FFF2-40B4-BE49-F238E27FC236}">
                <a16:creationId xmlns:a16="http://schemas.microsoft.com/office/drawing/2014/main" id="{A9D62555-51DE-24EE-DDCE-902FF3F17A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99DDB27-D504-18D1-D622-8B085F96DE2B}"/>
              </a:ext>
            </a:extLst>
          </p:cNvPr>
          <p:cNvSpPr>
            <a:spLocks noGrp="1"/>
          </p:cNvSpPr>
          <p:nvPr>
            <p:ph type="sldNum" sz="quarter" idx="12"/>
          </p:nvPr>
        </p:nvSpPr>
        <p:spPr/>
        <p:txBody>
          <a:bodyPr/>
          <a:lstStyle/>
          <a:p>
            <a:fld id="{7A94AD51-ACFE-467E-B8F1-1E6A1942B04C}" type="slidenum">
              <a:rPr lang="en-GB" smtClean="0"/>
              <a:t>‹#›</a:t>
            </a:fld>
            <a:endParaRPr lang="en-GB"/>
          </a:p>
        </p:txBody>
      </p:sp>
    </p:spTree>
    <p:extLst>
      <p:ext uri="{BB962C8B-B14F-4D97-AF65-F5344CB8AC3E}">
        <p14:creationId xmlns:p14="http://schemas.microsoft.com/office/powerpoint/2010/main" val="3539337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D77D1-2A72-AA0D-C2AF-5A1B83C93A8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75665E2-C348-5377-56CE-5184CE03FB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B36FF19-A0CC-5E5B-A5E4-5419E33BFD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9BA1892-7BD3-BB08-7461-914CEE188889}"/>
              </a:ext>
            </a:extLst>
          </p:cNvPr>
          <p:cNvSpPr>
            <a:spLocks noGrp="1"/>
          </p:cNvSpPr>
          <p:nvPr>
            <p:ph type="dt" sz="half" idx="10"/>
          </p:nvPr>
        </p:nvSpPr>
        <p:spPr/>
        <p:txBody>
          <a:bodyPr/>
          <a:lstStyle/>
          <a:p>
            <a:fld id="{98E8FD3E-B289-40DD-BD11-F205C39D9094}" type="datetimeFigureOut">
              <a:rPr lang="en-GB" smtClean="0"/>
              <a:t>25/10/2026</a:t>
            </a:fld>
            <a:endParaRPr lang="en-GB"/>
          </a:p>
        </p:txBody>
      </p:sp>
      <p:sp>
        <p:nvSpPr>
          <p:cNvPr id="6" name="Footer Placeholder 5">
            <a:extLst>
              <a:ext uri="{FF2B5EF4-FFF2-40B4-BE49-F238E27FC236}">
                <a16:creationId xmlns:a16="http://schemas.microsoft.com/office/drawing/2014/main" id="{1C8885B4-FC80-E7AF-33B0-EBF1656307D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40546D7-EF8D-999A-950F-7E48D2E13441}"/>
              </a:ext>
            </a:extLst>
          </p:cNvPr>
          <p:cNvSpPr>
            <a:spLocks noGrp="1"/>
          </p:cNvSpPr>
          <p:nvPr>
            <p:ph type="sldNum" sz="quarter" idx="12"/>
          </p:nvPr>
        </p:nvSpPr>
        <p:spPr/>
        <p:txBody>
          <a:bodyPr/>
          <a:lstStyle/>
          <a:p>
            <a:fld id="{7A94AD51-ACFE-467E-B8F1-1E6A1942B04C}" type="slidenum">
              <a:rPr lang="en-GB" smtClean="0"/>
              <a:t>‹#›</a:t>
            </a:fld>
            <a:endParaRPr lang="en-GB"/>
          </a:p>
        </p:txBody>
      </p:sp>
    </p:spTree>
    <p:extLst>
      <p:ext uri="{BB962C8B-B14F-4D97-AF65-F5344CB8AC3E}">
        <p14:creationId xmlns:p14="http://schemas.microsoft.com/office/powerpoint/2010/main" val="2024881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FED24-D997-4171-55A4-B51D9E14695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375FACC-DB0F-3BB9-5C53-5266219452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ADEBCF-BAA9-11D9-CF26-02077DC5E7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404DEBE-BD00-CFA2-D01F-0AEC698090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10EC9B-EE70-201A-98B0-B2419C4956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7F6EB48-CCE4-8FE0-8B8C-9A93FF132812}"/>
              </a:ext>
            </a:extLst>
          </p:cNvPr>
          <p:cNvSpPr>
            <a:spLocks noGrp="1"/>
          </p:cNvSpPr>
          <p:nvPr>
            <p:ph type="dt" sz="half" idx="10"/>
          </p:nvPr>
        </p:nvSpPr>
        <p:spPr/>
        <p:txBody>
          <a:bodyPr/>
          <a:lstStyle/>
          <a:p>
            <a:fld id="{98E8FD3E-B289-40DD-BD11-F205C39D9094}" type="datetimeFigureOut">
              <a:rPr lang="en-GB" smtClean="0"/>
              <a:t>25/10/2026</a:t>
            </a:fld>
            <a:endParaRPr lang="en-GB"/>
          </a:p>
        </p:txBody>
      </p:sp>
      <p:sp>
        <p:nvSpPr>
          <p:cNvPr id="8" name="Footer Placeholder 7">
            <a:extLst>
              <a:ext uri="{FF2B5EF4-FFF2-40B4-BE49-F238E27FC236}">
                <a16:creationId xmlns:a16="http://schemas.microsoft.com/office/drawing/2014/main" id="{3E54BC5E-E684-1385-9085-5545C42A07E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CF64D51-0CCD-8589-D1D7-DBC7D1A1ABE1}"/>
              </a:ext>
            </a:extLst>
          </p:cNvPr>
          <p:cNvSpPr>
            <a:spLocks noGrp="1"/>
          </p:cNvSpPr>
          <p:nvPr>
            <p:ph type="sldNum" sz="quarter" idx="12"/>
          </p:nvPr>
        </p:nvSpPr>
        <p:spPr/>
        <p:txBody>
          <a:bodyPr/>
          <a:lstStyle/>
          <a:p>
            <a:fld id="{7A94AD51-ACFE-467E-B8F1-1E6A1942B04C}" type="slidenum">
              <a:rPr lang="en-GB" smtClean="0"/>
              <a:t>‹#›</a:t>
            </a:fld>
            <a:endParaRPr lang="en-GB"/>
          </a:p>
        </p:txBody>
      </p:sp>
    </p:spTree>
    <p:extLst>
      <p:ext uri="{BB962C8B-B14F-4D97-AF65-F5344CB8AC3E}">
        <p14:creationId xmlns:p14="http://schemas.microsoft.com/office/powerpoint/2010/main" val="4050356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D18A5-2CC8-BF34-0F1F-6EA21F4278A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ACA020B-10BE-BF7C-7946-1BCF49CBB15F}"/>
              </a:ext>
            </a:extLst>
          </p:cNvPr>
          <p:cNvSpPr>
            <a:spLocks noGrp="1"/>
          </p:cNvSpPr>
          <p:nvPr>
            <p:ph type="dt" sz="half" idx="10"/>
          </p:nvPr>
        </p:nvSpPr>
        <p:spPr/>
        <p:txBody>
          <a:bodyPr/>
          <a:lstStyle/>
          <a:p>
            <a:fld id="{98E8FD3E-B289-40DD-BD11-F205C39D9094}" type="datetimeFigureOut">
              <a:rPr lang="en-GB" smtClean="0"/>
              <a:t>25/10/2026</a:t>
            </a:fld>
            <a:endParaRPr lang="en-GB"/>
          </a:p>
        </p:txBody>
      </p:sp>
      <p:sp>
        <p:nvSpPr>
          <p:cNvPr id="4" name="Footer Placeholder 3">
            <a:extLst>
              <a:ext uri="{FF2B5EF4-FFF2-40B4-BE49-F238E27FC236}">
                <a16:creationId xmlns:a16="http://schemas.microsoft.com/office/drawing/2014/main" id="{4594CDD9-C50E-C970-F9B8-F343B7BE466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A425492-5280-D060-E15C-E02D4D6CFD1D}"/>
              </a:ext>
            </a:extLst>
          </p:cNvPr>
          <p:cNvSpPr>
            <a:spLocks noGrp="1"/>
          </p:cNvSpPr>
          <p:nvPr>
            <p:ph type="sldNum" sz="quarter" idx="12"/>
          </p:nvPr>
        </p:nvSpPr>
        <p:spPr/>
        <p:txBody>
          <a:bodyPr/>
          <a:lstStyle/>
          <a:p>
            <a:fld id="{7A94AD51-ACFE-467E-B8F1-1E6A1942B04C}" type="slidenum">
              <a:rPr lang="en-GB" smtClean="0"/>
              <a:t>‹#›</a:t>
            </a:fld>
            <a:endParaRPr lang="en-GB"/>
          </a:p>
        </p:txBody>
      </p:sp>
    </p:spTree>
    <p:extLst>
      <p:ext uri="{BB962C8B-B14F-4D97-AF65-F5344CB8AC3E}">
        <p14:creationId xmlns:p14="http://schemas.microsoft.com/office/powerpoint/2010/main" val="235231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6D212E-5613-CE62-F815-F9FFF1C61234}"/>
              </a:ext>
            </a:extLst>
          </p:cNvPr>
          <p:cNvSpPr>
            <a:spLocks noGrp="1"/>
          </p:cNvSpPr>
          <p:nvPr>
            <p:ph type="dt" sz="half" idx="10"/>
          </p:nvPr>
        </p:nvSpPr>
        <p:spPr/>
        <p:txBody>
          <a:bodyPr/>
          <a:lstStyle/>
          <a:p>
            <a:fld id="{98E8FD3E-B289-40DD-BD11-F205C39D9094}" type="datetimeFigureOut">
              <a:rPr lang="en-GB" smtClean="0"/>
              <a:t>25/10/2026</a:t>
            </a:fld>
            <a:endParaRPr lang="en-GB"/>
          </a:p>
        </p:txBody>
      </p:sp>
      <p:sp>
        <p:nvSpPr>
          <p:cNvPr id="3" name="Footer Placeholder 2">
            <a:extLst>
              <a:ext uri="{FF2B5EF4-FFF2-40B4-BE49-F238E27FC236}">
                <a16:creationId xmlns:a16="http://schemas.microsoft.com/office/drawing/2014/main" id="{04AC8995-1858-AF76-85FF-A1B5682CAE2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7378AFE-6749-7F4C-9501-C75E0A1EA7B2}"/>
              </a:ext>
            </a:extLst>
          </p:cNvPr>
          <p:cNvSpPr>
            <a:spLocks noGrp="1"/>
          </p:cNvSpPr>
          <p:nvPr>
            <p:ph type="sldNum" sz="quarter" idx="12"/>
          </p:nvPr>
        </p:nvSpPr>
        <p:spPr/>
        <p:txBody>
          <a:bodyPr/>
          <a:lstStyle/>
          <a:p>
            <a:fld id="{7A94AD51-ACFE-467E-B8F1-1E6A1942B04C}" type="slidenum">
              <a:rPr lang="en-GB" smtClean="0"/>
              <a:t>‹#›</a:t>
            </a:fld>
            <a:endParaRPr lang="en-GB"/>
          </a:p>
        </p:txBody>
      </p:sp>
    </p:spTree>
    <p:extLst>
      <p:ext uri="{BB962C8B-B14F-4D97-AF65-F5344CB8AC3E}">
        <p14:creationId xmlns:p14="http://schemas.microsoft.com/office/powerpoint/2010/main" val="4186487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3E186-FBA1-A08A-AEF5-4F5E007054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5925B1C-36D7-F272-69EE-14DEBC998B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B0C4544-6126-AE43-05FF-A9A5EEEB59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DD7985-80E3-8CF5-908F-DE2B0AF467C2}"/>
              </a:ext>
            </a:extLst>
          </p:cNvPr>
          <p:cNvSpPr>
            <a:spLocks noGrp="1"/>
          </p:cNvSpPr>
          <p:nvPr>
            <p:ph type="dt" sz="half" idx="10"/>
          </p:nvPr>
        </p:nvSpPr>
        <p:spPr/>
        <p:txBody>
          <a:bodyPr/>
          <a:lstStyle/>
          <a:p>
            <a:fld id="{98E8FD3E-B289-40DD-BD11-F205C39D9094}" type="datetimeFigureOut">
              <a:rPr lang="en-GB" smtClean="0"/>
              <a:t>25/10/2026</a:t>
            </a:fld>
            <a:endParaRPr lang="en-GB"/>
          </a:p>
        </p:txBody>
      </p:sp>
      <p:sp>
        <p:nvSpPr>
          <p:cNvPr id="6" name="Footer Placeholder 5">
            <a:extLst>
              <a:ext uri="{FF2B5EF4-FFF2-40B4-BE49-F238E27FC236}">
                <a16:creationId xmlns:a16="http://schemas.microsoft.com/office/drawing/2014/main" id="{95ACBDD8-205C-5310-57DB-87723B25827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C525944-131E-0C06-5E05-BD5B6425B516}"/>
              </a:ext>
            </a:extLst>
          </p:cNvPr>
          <p:cNvSpPr>
            <a:spLocks noGrp="1"/>
          </p:cNvSpPr>
          <p:nvPr>
            <p:ph type="sldNum" sz="quarter" idx="12"/>
          </p:nvPr>
        </p:nvSpPr>
        <p:spPr/>
        <p:txBody>
          <a:bodyPr/>
          <a:lstStyle/>
          <a:p>
            <a:fld id="{7A94AD51-ACFE-467E-B8F1-1E6A1942B04C}" type="slidenum">
              <a:rPr lang="en-GB" smtClean="0"/>
              <a:t>‹#›</a:t>
            </a:fld>
            <a:endParaRPr lang="en-GB"/>
          </a:p>
        </p:txBody>
      </p:sp>
    </p:spTree>
    <p:extLst>
      <p:ext uri="{BB962C8B-B14F-4D97-AF65-F5344CB8AC3E}">
        <p14:creationId xmlns:p14="http://schemas.microsoft.com/office/powerpoint/2010/main" val="2456708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04BE8-69EF-5CAC-1727-17E0FF9858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D718784-7E2F-8741-D79A-11AD701A591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FA89805-4A6D-BAAB-C129-5CE9A8C803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94E1BF-3715-63FF-EF2C-91B8C77A62D9}"/>
              </a:ext>
            </a:extLst>
          </p:cNvPr>
          <p:cNvSpPr>
            <a:spLocks noGrp="1"/>
          </p:cNvSpPr>
          <p:nvPr>
            <p:ph type="dt" sz="half" idx="10"/>
          </p:nvPr>
        </p:nvSpPr>
        <p:spPr/>
        <p:txBody>
          <a:bodyPr/>
          <a:lstStyle/>
          <a:p>
            <a:fld id="{98E8FD3E-B289-40DD-BD11-F205C39D9094}" type="datetimeFigureOut">
              <a:rPr lang="en-GB" smtClean="0"/>
              <a:t>25/10/2026</a:t>
            </a:fld>
            <a:endParaRPr lang="en-GB"/>
          </a:p>
        </p:txBody>
      </p:sp>
      <p:sp>
        <p:nvSpPr>
          <p:cNvPr id="6" name="Footer Placeholder 5">
            <a:extLst>
              <a:ext uri="{FF2B5EF4-FFF2-40B4-BE49-F238E27FC236}">
                <a16:creationId xmlns:a16="http://schemas.microsoft.com/office/drawing/2014/main" id="{7684163E-7006-772D-44AC-E0F0AF1C9B7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89769AB-6201-36A2-033E-8AA52D0F2EF4}"/>
              </a:ext>
            </a:extLst>
          </p:cNvPr>
          <p:cNvSpPr>
            <a:spLocks noGrp="1"/>
          </p:cNvSpPr>
          <p:nvPr>
            <p:ph type="sldNum" sz="quarter" idx="12"/>
          </p:nvPr>
        </p:nvSpPr>
        <p:spPr/>
        <p:txBody>
          <a:bodyPr/>
          <a:lstStyle/>
          <a:p>
            <a:fld id="{7A94AD51-ACFE-467E-B8F1-1E6A1942B04C}" type="slidenum">
              <a:rPr lang="en-GB" smtClean="0"/>
              <a:t>‹#›</a:t>
            </a:fld>
            <a:endParaRPr lang="en-GB"/>
          </a:p>
        </p:txBody>
      </p:sp>
    </p:spTree>
    <p:extLst>
      <p:ext uri="{BB962C8B-B14F-4D97-AF65-F5344CB8AC3E}">
        <p14:creationId xmlns:p14="http://schemas.microsoft.com/office/powerpoint/2010/main" val="223557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C88A7-9C62-BD0A-311D-B48A43890C2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0F53907-1787-C13D-FF7B-1167424D17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1B9147F-2CA3-F06A-EA34-46C653007675}"/>
              </a:ext>
            </a:extLst>
          </p:cNvPr>
          <p:cNvSpPr>
            <a:spLocks noGrp="1"/>
          </p:cNvSpPr>
          <p:nvPr>
            <p:ph type="dt" sz="half" idx="10"/>
          </p:nvPr>
        </p:nvSpPr>
        <p:spPr/>
        <p:txBody>
          <a:bodyPr/>
          <a:lstStyle/>
          <a:p>
            <a:fld id="{98E8FD3E-B289-40DD-BD11-F205C39D9094}" type="datetimeFigureOut">
              <a:rPr lang="en-GB" smtClean="0"/>
              <a:t>25/10/2026</a:t>
            </a:fld>
            <a:endParaRPr lang="en-GB"/>
          </a:p>
        </p:txBody>
      </p:sp>
      <p:sp>
        <p:nvSpPr>
          <p:cNvPr id="5" name="Footer Placeholder 4">
            <a:extLst>
              <a:ext uri="{FF2B5EF4-FFF2-40B4-BE49-F238E27FC236}">
                <a16:creationId xmlns:a16="http://schemas.microsoft.com/office/drawing/2014/main" id="{82032BDC-79A8-6397-5A2F-54F5D96B19C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1DA7357-C010-8A17-3979-DFC06ECC9A6A}"/>
              </a:ext>
            </a:extLst>
          </p:cNvPr>
          <p:cNvSpPr>
            <a:spLocks noGrp="1"/>
          </p:cNvSpPr>
          <p:nvPr>
            <p:ph type="sldNum" sz="quarter" idx="12"/>
          </p:nvPr>
        </p:nvSpPr>
        <p:spPr/>
        <p:txBody>
          <a:bodyPr/>
          <a:lstStyle/>
          <a:p>
            <a:fld id="{7A94AD51-ACFE-467E-B8F1-1E6A1942B04C}" type="slidenum">
              <a:rPr lang="en-GB" smtClean="0"/>
              <a:t>‹#›</a:t>
            </a:fld>
            <a:endParaRPr lang="en-GB"/>
          </a:p>
        </p:txBody>
      </p:sp>
    </p:spTree>
    <p:extLst>
      <p:ext uri="{BB962C8B-B14F-4D97-AF65-F5344CB8AC3E}">
        <p14:creationId xmlns:p14="http://schemas.microsoft.com/office/powerpoint/2010/main" val="3714397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B9EFFA-2EB7-7731-5FC7-04277B9F07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385EAA-94F2-6D0A-6EC5-6BAA0C5FCE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88F45A7-337D-6650-4514-FF5F90A4C130}"/>
              </a:ext>
            </a:extLst>
          </p:cNvPr>
          <p:cNvSpPr>
            <a:spLocks noGrp="1"/>
          </p:cNvSpPr>
          <p:nvPr>
            <p:ph type="dt" sz="half" idx="10"/>
          </p:nvPr>
        </p:nvSpPr>
        <p:spPr/>
        <p:txBody>
          <a:bodyPr/>
          <a:lstStyle/>
          <a:p>
            <a:fld id="{98E8FD3E-B289-40DD-BD11-F205C39D9094}" type="datetimeFigureOut">
              <a:rPr lang="en-GB" smtClean="0"/>
              <a:t>25/10/2026</a:t>
            </a:fld>
            <a:endParaRPr lang="en-GB"/>
          </a:p>
        </p:txBody>
      </p:sp>
      <p:sp>
        <p:nvSpPr>
          <p:cNvPr id="5" name="Footer Placeholder 4">
            <a:extLst>
              <a:ext uri="{FF2B5EF4-FFF2-40B4-BE49-F238E27FC236}">
                <a16:creationId xmlns:a16="http://schemas.microsoft.com/office/drawing/2014/main" id="{78CD9A4C-7709-8421-B97B-C6488EFAD7A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850EE1F-7C30-55CA-7F77-361934BDAF8C}"/>
              </a:ext>
            </a:extLst>
          </p:cNvPr>
          <p:cNvSpPr>
            <a:spLocks noGrp="1"/>
          </p:cNvSpPr>
          <p:nvPr>
            <p:ph type="sldNum" sz="quarter" idx="12"/>
          </p:nvPr>
        </p:nvSpPr>
        <p:spPr/>
        <p:txBody>
          <a:bodyPr/>
          <a:lstStyle/>
          <a:p>
            <a:fld id="{7A94AD51-ACFE-467E-B8F1-1E6A1942B04C}" type="slidenum">
              <a:rPr lang="en-GB" smtClean="0"/>
              <a:t>‹#›</a:t>
            </a:fld>
            <a:endParaRPr lang="en-GB"/>
          </a:p>
        </p:txBody>
      </p:sp>
    </p:spTree>
    <p:extLst>
      <p:ext uri="{BB962C8B-B14F-4D97-AF65-F5344CB8AC3E}">
        <p14:creationId xmlns:p14="http://schemas.microsoft.com/office/powerpoint/2010/main" val="444998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71A844-6A85-6B40-1AE3-112B8C81A5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918421C-415D-4B36-4452-D5FB57277B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634E5FE-5CE7-571A-3CE9-62C6CBC795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E8FD3E-B289-40DD-BD11-F205C39D9094}" type="datetimeFigureOut">
              <a:rPr lang="en-GB" smtClean="0"/>
              <a:t>25/10/2026</a:t>
            </a:fld>
            <a:endParaRPr lang="en-GB"/>
          </a:p>
        </p:txBody>
      </p:sp>
      <p:sp>
        <p:nvSpPr>
          <p:cNvPr id="5" name="Footer Placeholder 4">
            <a:extLst>
              <a:ext uri="{FF2B5EF4-FFF2-40B4-BE49-F238E27FC236}">
                <a16:creationId xmlns:a16="http://schemas.microsoft.com/office/drawing/2014/main" id="{77654569-9313-14EB-3EAE-D54C72BA5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C91102A-D4E5-5055-F15A-5B2955282A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94AD51-ACFE-467E-B8F1-1E6A1942B04C}" type="slidenum">
              <a:rPr lang="en-GB" smtClean="0"/>
              <a:t>‹#›</a:t>
            </a:fld>
            <a:endParaRPr lang="en-GB"/>
          </a:p>
        </p:txBody>
      </p:sp>
    </p:spTree>
    <p:extLst>
      <p:ext uri="{BB962C8B-B14F-4D97-AF65-F5344CB8AC3E}">
        <p14:creationId xmlns:p14="http://schemas.microsoft.com/office/powerpoint/2010/main" val="666772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41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8BC8CC-2E45-850D-EC73-A1E581ABB00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84200" y="368300"/>
            <a:ext cx="368300" cy="368300"/>
          </a:xfrm>
          <a:prstGeom prst="rect">
            <a:avLst/>
          </a:prstGeom>
        </p:spPr>
      </p:pic>
      <p:sp>
        <p:nvSpPr>
          <p:cNvPr id="4" name="TextBox 3">
            <a:extLst>
              <a:ext uri="{FF2B5EF4-FFF2-40B4-BE49-F238E27FC236}">
                <a16:creationId xmlns:a16="http://schemas.microsoft.com/office/drawing/2014/main" id="{FAFAA3D5-6B0E-3200-EC87-B001C631DE16}"/>
              </a:ext>
            </a:extLst>
          </p:cNvPr>
          <p:cNvSpPr txBox="1"/>
          <p:nvPr/>
        </p:nvSpPr>
        <p:spPr>
          <a:xfrm>
            <a:off x="1066800" y="355600"/>
            <a:ext cx="1397000" cy="353943"/>
          </a:xfrm>
          <a:prstGeom prst="rect">
            <a:avLst/>
          </a:prstGeom>
          <a:noFill/>
        </p:spPr>
        <p:txBody>
          <a:bodyPr vert="horz" wrap="square" lIns="0" tIns="0" rIns="0" bIns="0" rtlCol="0">
            <a:spAutoFit/>
          </a:bodyPr>
          <a:lstStyle/>
          <a:p>
            <a:pPr>
              <a:spcAft>
                <a:spcPts val="800"/>
              </a:spcAft>
            </a:pPr>
            <a:r>
              <a:rPr lang="en-GB" sz="2300" b="1">
                <a:solidFill>
                  <a:srgbClr val="F1F3F4"/>
                </a:solidFill>
                <a:latin typeface="Arial" panose="020B0604020202020204" pitchFamily="34" charset="0"/>
              </a:rPr>
              <a:t>pulse.</a:t>
            </a:r>
          </a:p>
        </p:txBody>
      </p:sp>
      <p:sp>
        <p:nvSpPr>
          <p:cNvPr id="5" name="TextBox 4">
            <a:extLst>
              <a:ext uri="{FF2B5EF4-FFF2-40B4-BE49-F238E27FC236}">
                <a16:creationId xmlns:a16="http://schemas.microsoft.com/office/drawing/2014/main" id="{A8163834-F187-ECAC-AE36-6CE2CA9992D6}"/>
              </a:ext>
            </a:extLst>
          </p:cNvPr>
          <p:cNvSpPr txBox="1"/>
          <p:nvPr/>
        </p:nvSpPr>
        <p:spPr>
          <a:xfrm>
            <a:off x="7747000" y="457200"/>
            <a:ext cx="3810000" cy="169277"/>
          </a:xfrm>
          <a:prstGeom prst="rect">
            <a:avLst/>
          </a:prstGeom>
          <a:noFill/>
        </p:spPr>
        <p:txBody>
          <a:bodyPr vert="horz" wrap="square" lIns="0" tIns="0" rIns="0" bIns="0" rtlCol="0">
            <a:spAutoFit/>
          </a:bodyPr>
          <a:lstStyle/>
          <a:p>
            <a:pPr>
              <a:spcAft>
                <a:spcPts val="800"/>
              </a:spcAft>
            </a:pPr>
            <a:r>
              <a:rPr lang="en-GB" sz="1100">
                <a:solidFill>
                  <a:srgbClr val="B2BDC3"/>
                </a:solidFill>
                <a:latin typeface="Arial" panose="020B0604020202020204" pitchFamily="34" charset="0"/>
              </a:rPr>
              <a:t>CARE, CONNECTED</a:t>
            </a:r>
          </a:p>
        </p:txBody>
      </p:sp>
      <p:sp>
        <p:nvSpPr>
          <p:cNvPr id="6" name="Rectangle 5">
            <a:extLst>
              <a:ext uri="{FF2B5EF4-FFF2-40B4-BE49-F238E27FC236}">
                <a16:creationId xmlns:a16="http://schemas.microsoft.com/office/drawing/2014/main" id="{391375F4-E237-AC4F-EDA1-A580DCA51BC0}"/>
              </a:ext>
            </a:extLst>
          </p:cNvPr>
          <p:cNvSpPr/>
          <p:nvPr/>
        </p:nvSpPr>
        <p:spPr>
          <a:xfrm>
            <a:off x="584200" y="6235700"/>
            <a:ext cx="11023600" cy="12700"/>
          </a:xfrm>
          <a:prstGeom prst="rect">
            <a:avLst/>
          </a:prstGeom>
          <a:solidFill>
            <a:srgbClr val="3844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2851E277-9AB0-3EFC-1B57-B07CB449D848}"/>
              </a:ext>
            </a:extLst>
          </p:cNvPr>
          <p:cNvSpPr txBox="1"/>
          <p:nvPr/>
        </p:nvSpPr>
        <p:spPr>
          <a:xfrm>
            <a:off x="584200" y="6438900"/>
            <a:ext cx="8763000" cy="138499"/>
          </a:xfrm>
          <a:prstGeom prst="rect">
            <a:avLst/>
          </a:prstGeom>
          <a:noFill/>
        </p:spPr>
        <p:txBody>
          <a:bodyPr vert="horz" wrap="square" lIns="0" tIns="0" rIns="0" bIns="0" rtlCol="0">
            <a:spAutoFit/>
          </a:bodyPr>
          <a:lstStyle/>
          <a:p>
            <a:pPr>
              <a:spcAft>
                <a:spcPts val="800"/>
              </a:spcAft>
            </a:pPr>
            <a:r>
              <a:rPr lang="en-GB" sz="900">
                <a:solidFill>
                  <a:srgbClr val="B2BDC3"/>
                </a:solidFill>
                <a:latin typeface="Arial" panose="020B0604020202020204" pitchFamily="34" charset="0"/>
              </a:rPr>
              <a:t>PULSE / HEALTHCARE HACKATHON PROTOTYPE</a:t>
            </a:r>
          </a:p>
        </p:txBody>
      </p:sp>
      <p:sp>
        <p:nvSpPr>
          <p:cNvPr id="8" name="TextBox 7">
            <a:extLst>
              <a:ext uri="{FF2B5EF4-FFF2-40B4-BE49-F238E27FC236}">
                <a16:creationId xmlns:a16="http://schemas.microsoft.com/office/drawing/2014/main" id="{9A98457A-99EE-8E68-1F19-E0C8C9A62423}"/>
              </a:ext>
            </a:extLst>
          </p:cNvPr>
          <p:cNvSpPr txBox="1"/>
          <p:nvPr/>
        </p:nvSpPr>
        <p:spPr>
          <a:xfrm>
            <a:off x="11163300" y="6400800"/>
            <a:ext cx="444500" cy="184666"/>
          </a:xfrm>
          <a:prstGeom prst="rect">
            <a:avLst/>
          </a:prstGeom>
          <a:noFill/>
        </p:spPr>
        <p:txBody>
          <a:bodyPr vert="horz" wrap="square" lIns="0" tIns="0" rIns="0" bIns="0" rtlCol="0">
            <a:spAutoFit/>
          </a:bodyPr>
          <a:lstStyle/>
          <a:p>
            <a:pPr>
              <a:spcAft>
                <a:spcPts val="800"/>
              </a:spcAft>
            </a:pPr>
            <a:r>
              <a:rPr lang="en-GB" sz="1200" b="1">
                <a:solidFill>
                  <a:srgbClr val="F16B6B"/>
                </a:solidFill>
                <a:latin typeface="Arial" panose="020B0604020202020204" pitchFamily="34" charset="0"/>
              </a:rPr>
              <a:t>01</a:t>
            </a:r>
          </a:p>
        </p:txBody>
      </p:sp>
      <p:sp>
        <p:nvSpPr>
          <p:cNvPr id="9" name="TextBox 8">
            <a:extLst>
              <a:ext uri="{FF2B5EF4-FFF2-40B4-BE49-F238E27FC236}">
                <a16:creationId xmlns:a16="http://schemas.microsoft.com/office/drawing/2014/main" id="{F0174513-62E7-6291-DA3D-876533158341}"/>
              </a:ext>
            </a:extLst>
          </p:cNvPr>
          <p:cNvSpPr txBox="1"/>
          <p:nvPr/>
        </p:nvSpPr>
        <p:spPr>
          <a:xfrm>
            <a:off x="584200" y="1676400"/>
            <a:ext cx="7493000" cy="1169551"/>
          </a:xfrm>
          <a:prstGeom prst="rect">
            <a:avLst/>
          </a:prstGeom>
          <a:noFill/>
        </p:spPr>
        <p:txBody>
          <a:bodyPr vert="horz" wrap="square" lIns="0" tIns="0" rIns="0" bIns="0" rtlCol="0">
            <a:spAutoFit/>
          </a:bodyPr>
          <a:lstStyle/>
          <a:p>
            <a:pPr>
              <a:spcAft>
                <a:spcPts val="800"/>
              </a:spcAft>
            </a:pPr>
            <a:r>
              <a:rPr lang="en-GB" sz="7600" b="1">
                <a:solidFill>
                  <a:srgbClr val="F1F3F4"/>
                </a:solidFill>
                <a:latin typeface="Arial" panose="020B0604020202020204" pitchFamily="34" charset="0"/>
              </a:rPr>
              <a:t>Pulse</a:t>
            </a:r>
          </a:p>
        </p:txBody>
      </p:sp>
      <p:sp>
        <p:nvSpPr>
          <p:cNvPr id="10" name="TextBox 9">
            <a:extLst>
              <a:ext uri="{FF2B5EF4-FFF2-40B4-BE49-F238E27FC236}">
                <a16:creationId xmlns:a16="http://schemas.microsoft.com/office/drawing/2014/main" id="{A411EAF4-478F-9DCC-1946-558BBFE0A707}"/>
              </a:ext>
            </a:extLst>
          </p:cNvPr>
          <p:cNvSpPr txBox="1"/>
          <p:nvPr/>
        </p:nvSpPr>
        <p:spPr>
          <a:xfrm>
            <a:off x="635000" y="3098800"/>
            <a:ext cx="8255000" cy="677108"/>
          </a:xfrm>
          <a:prstGeom prst="rect">
            <a:avLst/>
          </a:prstGeom>
          <a:noFill/>
        </p:spPr>
        <p:txBody>
          <a:bodyPr vert="horz" wrap="square" lIns="0" tIns="0" rIns="0" bIns="0" rtlCol="0">
            <a:spAutoFit/>
          </a:bodyPr>
          <a:lstStyle/>
          <a:p>
            <a:pPr>
              <a:spcAft>
                <a:spcPts val="800"/>
              </a:spcAft>
            </a:pPr>
            <a:r>
              <a:rPr lang="en-GB" sz="4400" b="1">
                <a:solidFill>
                  <a:srgbClr val="F16B6B"/>
                </a:solidFill>
                <a:latin typeface="Arial" panose="020B0604020202020204" pitchFamily="34" charset="0"/>
              </a:rPr>
              <a:t>Care, connected</a:t>
            </a:r>
          </a:p>
        </p:txBody>
      </p:sp>
      <p:sp>
        <p:nvSpPr>
          <p:cNvPr id="11" name="TextBox 10">
            <a:extLst>
              <a:ext uri="{FF2B5EF4-FFF2-40B4-BE49-F238E27FC236}">
                <a16:creationId xmlns:a16="http://schemas.microsoft.com/office/drawing/2014/main" id="{95CDB0C8-3887-07BE-6BC2-14CC1CEB210F}"/>
              </a:ext>
            </a:extLst>
          </p:cNvPr>
          <p:cNvSpPr txBox="1"/>
          <p:nvPr/>
        </p:nvSpPr>
        <p:spPr>
          <a:xfrm>
            <a:off x="635000" y="4102100"/>
            <a:ext cx="7874000" cy="338554"/>
          </a:xfrm>
          <a:prstGeom prst="rect">
            <a:avLst/>
          </a:prstGeom>
          <a:noFill/>
        </p:spPr>
        <p:txBody>
          <a:bodyPr vert="horz" wrap="square" lIns="0" tIns="0" rIns="0" bIns="0" rtlCol="0">
            <a:spAutoFit/>
          </a:bodyPr>
          <a:lstStyle/>
          <a:p>
            <a:pPr>
              <a:spcAft>
                <a:spcPts val="800"/>
              </a:spcAft>
            </a:pPr>
            <a:r>
              <a:rPr lang="en-US" sz="2200">
                <a:solidFill>
                  <a:srgbClr val="B2BDC3"/>
                </a:solidFill>
                <a:latin typeface="Arial" panose="020B0604020202020204" pitchFamily="34" charset="0"/>
              </a:rPr>
              <a:t>A wearable patient-monitoring prototype for A&amp;E</a:t>
            </a:r>
            <a:endParaRPr lang="en-GB" sz="2200">
              <a:solidFill>
                <a:srgbClr val="B2BDC3"/>
              </a:solidFill>
              <a:latin typeface="Arial" panose="020B0604020202020204" pitchFamily="34" charset="0"/>
            </a:endParaRPr>
          </a:p>
        </p:txBody>
      </p:sp>
      <p:pic>
        <p:nvPicPr>
          <p:cNvPr id="13" name="Picture 12">
            <a:extLst>
              <a:ext uri="{FF2B5EF4-FFF2-40B4-BE49-F238E27FC236}">
                <a16:creationId xmlns:a16="http://schemas.microsoft.com/office/drawing/2014/main" id="{DE16E3C0-61C4-CF56-C49F-CD9C70817F6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102600" y="3644900"/>
            <a:ext cx="3505200" cy="1016000"/>
          </a:xfrm>
          <a:prstGeom prst="rect">
            <a:avLst/>
          </a:prstGeom>
        </p:spPr>
      </p:pic>
      <p:sp>
        <p:nvSpPr>
          <p:cNvPr id="14" name="TextBox 13">
            <a:extLst>
              <a:ext uri="{FF2B5EF4-FFF2-40B4-BE49-F238E27FC236}">
                <a16:creationId xmlns:a16="http://schemas.microsoft.com/office/drawing/2014/main" id="{BEB4C271-FB36-629B-2C97-709733CB45FB}"/>
              </a:ext>
            </a:extLst>
          </p:cNvPr>
          <p:cNvSpPr txBox="1"/>
          <p:nvPr/>
        </p:nvSpPr>
        <p:spPr>
          <a:xfrm>
            <a:off x="635000" y="5346700"/>
            <a:ext cx="8890000" cy="595035"/>
          </a:xfrm>
          <a:prstGeom prst="rect">
            <a:avLst/>
          </a:prstGeom>
          <a:noFill/>
        </p:spPr>
        <p:txBody>
          <a:bodyPr vert="horz" wrap="square" lIns="0" tIns="0" rIns="0" bIns="0" rtlCol="0">
            <a:spAutoFit/>
          </a:bodyPr>
          <a:lstStyle/>
          <a:p>
            <a:pPr>
              <a:spcAft>
                <a:spcPts val="800"/>
              </a:spcAft>
            </a:pPr>
            <a:r>
              <a:rPr lang="en-GB" sz="1600">
                <a:solidFill>
                  <a:srgbClr val="F1F3F4"/>
                </a:solidFill>
                <a:latin typeface="Arial" panose="020B0604020202020204" pitchFamily="34" charset="0"/>
              </a:rPr>
              <a:t>Mohammed Sherif    Mostafa Issa
Maham Ali    Elysha Ruddock</a:t>
            </a:r>
          </a:p>
        </p:txBody>
      </p:sp>
    </p:spTree>
    <p:extLst>
      <p:ext uri="{BB962C8B-B14F-4D97-AF65-F5344CB8AC3E}">
        <p14:creationId xmlns:p14="http://schemas.microsoft.com/office/powerpoint/2010/main" val="3935898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41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85D7D8-E03F-E695-8A44-7EAAD0E1FB3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84200" y="368300"/>
            <a:ext cx="368300" cy="368300"/>
          </a:xfrm>
          <a:prstGeom prst="rect">
            <a:avLst/>
          </a:prstGeom>
        </p:spPr>
      </p:pic>
      <p:sp>
        <p:nvSpPr>
          <p:cNvPr id="4" name="TextBox 3">
            <a:extLst>
              <a:ext uri="{FF2B5EF4-FFF2-40B4-BE49-F238E27FC236}">
                <a16:creationId xmlns:a16="http://schemas.microsoft.com/office/drawing/2014/main" id="{6CF30A2C-4448-14DD-F38F-F321F6CECFF6}"/>
              </a:ext>
            </a:extLst>
          </p:cNvPr>
          <p:cNvSpPr txBox="1"/>
          <p:nvPr/>
        </p:nvSpPr>
        <p:spPr>
          <a:xfrm>
            <a:off x="1066800" y="355600"/>
            <a:ext cx="1397000" cy="353943"/>
          </a:xfrm>
          <a:prstGeom prst="rect">
            <a:avLst/>
          </a:prstGeom>
          <a:noFill/>
        </p:spPr>
        <p:txBody>
          <a:bodyPr vert="horz" wrap="square" lIns="0" tIns="0" rIns="0" bIns="0" rtlCol="0">
            <a:spAutoFit/>
          </a:bodyPr>
          <a:lstStyle/>
          <a:p>
            <a:pPr>
              <a:spcAft>
                <a:spcPts val="800"/>
              </a:spcAft>
            </a:pPr>
            <a:r>
              <a:rPr lang="en-GB" sz="2300" b="1">
                <a:solidFill>
                  <a:srgbClr val="F1F3F4"/>
                </a:solidFill>
                <a:latin typeface="Arial" panose="020B0604020202020204" pitchFamily="34" charset="0"/>
              </a:rPr>
              <a:t>pulse.</a:t>
            </a:r>
          </a:p>
        </p:txBody>
      </p:sp>
      <p:sp>
        <p:nvSpPr>
          <p:cNvPr id="5" name="TextBox 4">
            <a:extLst>
              <a:ext uri="{FF2B5EF4-FFF2-40B4-BE49-F238E27FC236}">
                <a16:creationId xmlns:a16="http://schemas.microsoft.com/office/drawing/2014/main" id="{74694710-643D-27F8-271B-C21FD2033FA9}"/>
              </a:ext>
            </a:extLst>
          </p:cNvPr>
          <p:cNvSpPr txBox="1"/>
          <p:nvPr/>
        </p:nvSpPr>
        <p:spPr>
          <a:xfrm>
            <a:off x="7747000" y="457200"/>
            <a:ext cx="3810000" cy="169277"/>
          </a:xfrm>
          <a:prstGeom prst="rect">
            <a:avLst/>
          </a:prstGeom>
          <a:noFill/>
        </p:spPr>
        <p:txBody>
          <a:bodyPr vert="horz" wrap="square" lIns="0" tIns="0" rIns="0" bIns="0" rtlCol="0">
            <a:spAutoFit/>
          </a:bodyPr>
          <a:lstStyle/>
          <a:p>
            <a:pPr>
              <a:spcAft>
                <a:spcPts val="800"/>
              </a:spcAft>
            </a:pPr>
            <a:r>
              <a:rPr lang="en-GB" sz="1100">
                <a:solidFill>
                  <a:srgbClr val="B2BDC3"/>
                </a:solidFill>
                <a:latin typeface="Arial" panose="020B0604020202020204" pitchFamily="34" charset="0"/>
              </a:rPr>
              <a:t>THE PROBLEM</a:t>
            </a:r>
          </a:p>
        </p:txBody>
      </p:sp>
      <p:sp>
        <p:nvSpPr>
          <p:cNvPr id="6" name="Rectangle 5">
            <a:extLst>
              <a:ext uri="{FF2B5EF4-FFF2-40B4-BE49-F238E27FC236}">
                <a16:creationId xmlns:a16="http://schemas.microsoft.com/office/drawing/2014/main" id="{5BA828B6-A022-9AB4-283E-BC73FAFD25F6}"/>
              </a:ext>
            </a:extLst>
          </p:cNvPr>
          <p:cNvSpPr/>
          <p:nvPr/>
        </p:nvSpPr>
        <p:spPr>
          <a:xfrm>
            <a:off x="584200" y="6235700"/>
            <a:ext cx="11023600" cy="12700"/>
          </a:xfrm>
          <a:prstGeom prst="rect">
            <a:avLst/>
          </a:prstGeom>
          <a:solidFill>
            <a:srgbClr val="3844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A3A2664F-045C-2285-8607-82105053212E}"/>
              </a:ext>
            </a:extLst>
          </p:cNvPr>
          <p:cNvSpPr txBox="1"/>
          <p:nvPr/>
        </p:nvSpPr>
        <p:spPr>
          <a:xfrm>
            <a:off x="584200" y="6438900"/>
            <a:ext cx="8763000" cy="138499"/>
          </a:xfrm>
          <a:prstGeom prst="rect">
            <a:avLst/>
          </a:prstGeom>
          <a:noFill/>
        </p:spPr>
        <p:txBody>
          <a:bodyPr vert="horz" wrap="square" lIns="0" tIns="0" rIns="0" bIns="0" rtlCol="0">
            <a:spAutoFit/>
          </a:bodyPr>
          <a:lstStyle/>
          <a:p>
            <a:pPr>
              <a:spcAft>
                <a:spcPts val="800"/>
              </a:spcAft>
            </a:pPr>
            <a:r>
              <a:rPr lang="en-GB" sz="900">
                <a:solidFill>
                  <a:srgbClr val="B2BDC3"/>
                </a:solidFill>
                <a:latin typeface="Arial" panose="020B0604020202020204" pitchFamily="34" charset="0"/>
              </a:rPr>
              <a:t>PULSE / HEALTHCARE HACKATHON PROTOTYPE</a:t>
            </a:r>
          </a:p>
        </p:txBody>
      </p:sp>
      <p:sp>
        <p:nvSpPr>
          <p:cNvPr id="8" name="TextBox 7">
            <a:extLst>
              <a:ext uri="{FF2B5EF4-FFF2-40B4-BE49-F238E27FC236}">
                <a16:creationId xmlns:a16="http://schemas.microsoft.com/office/drawing/2014/main" id="{6BF35AA2-0B3A-3CB5-0DFB-C40147BD132D}"/>
              </a:ext>
            </a:extLst>
          </p:cNvPr>
          <p:cNvSpPr txBox="1"/>
          <p:nvPr/>
        </p:nvSpPr>
        <p:spPr>
          <a:xfrm>
            <a:off x="11163300" y="6400800"/>
            <a:ext cx="444500" cy="184666"/>
          </a:xfrm>
          <a:prstGeom prst="rect">
            <a:avLst/>
          </a:prstGeom>
          <a:noFill/>
        </p:spPr>
        <p:txBody>
          <a:bodyPr vert="horz" wrap="square" lIns="0" tIns="0" rIns="0" bIns="0" rtlCol="0">
            <a:spAutoFit/>
          </a:bodyPr>
          <a:lstStyle/>
          <a:p>
            <a:pPr>
              <a:spcAft>
                <a:spcPts val="800"/>
              </a:spcAft>
            </a:pPr>
            <a:r>
              <a:rPr lang="en-GB" sz="1200" b="1">
                <a:solidFill>
                  <a:srgbClr val="F16B6B"/>
                </a:solidFill>
                <a:latin typeface="Arial" panose="020B0604020202020204" pitchFamily="34" charset="0"/>
              </a:rPr>
              <a:t>02</a:t>
            </a:r>
          </a:p>
        </p:txBody>
      </p:sp>
      <p:sp>
        <p:nvSpPr>
          <p:cNvPr id="9" name="TextBox 8">
            <a:extLst>
              <a:ext uri="{FF2B5EF4-FFF2-40B4-BE49-F238E27FC236}">
                <a16:creationId xmlns:a16="http://schemas.microsoft.com/office/drawing/2014/main" id="{65A1D219-67E2-C8E8-1D87-7AFCAA11E99A}"/>
              </a:ext>
            </a:extLst>
          </p:cNvPr>
          <p:cNvSpPr txBox="1"/>
          <p:nvPr/>
        </p:nvSpPr>
        <p:spPr>
          <a:xfrm>
            <a:off x="584200" y="1244600"/>
            <a:ext cx="11023600" cy="553998"/>
          </a:xfrm>
          <a:prstGeom prst="rect">
            <a:avLst/>
          </a:prstGeom>
          <a:noFill/>
        </p:spPr>
        <p:txBody>
          <a:bodyPr vert="horz" wrap="square" lIns="0" tIns="0" rIns="0" bIns="0" rtlCol="0">
            <a:spAutoFit/>
          </a:bodyPr>
          <a:lstStyle/>
          <a:p>
            <a:pPr>
              <a:spcAft>
                <a:spcPts val="800"/>
              </a:spcAft>
            </a:pPr>
            <a:r>
              <a:rPr lang="en-GB" sz="3600" b="1">
                <a:solidFill>
                  <a:srgbClr val="F1F3F4"/>
                </a:solidFill>
                <a:latin typeface="Arial" panose="020B0604020202020204" pitchFamily="34" charset="0"/>
              </a:rPr>
              <a:t>The waiting-room gap</a:t>
            </a:r>
          </a:p>
        </p:txBody>
      </p:sp>
      <p:sp>
        <p:nvSpPr>
          <p:cNvPr id="10" name="TextBox 9">
            <a:extLst>
              <a:ext uri="{FF2B5EF4-FFF2-40B4-BE49-F238E27FC236}">
                <a16:creationId xmlns:a16="http://schemas.microsoft.com/office/drawing/2014/main" id="{8E3E40B8-F9A8-7BD9-BD8B-C85A5B4B1957}"/>
              </a:ext>
            </a:extLst>
          </p:cNvPr>
          <p:cNvSpPr txBox="1"/>
          <p:nvPr/>
        </p:nvSpPr>
        <p:spPr>
          <a:xfrm>
            <a:off x="584200" y="2476500"/>
            <a:ext cx="5334000" cy="1015663"/>
          </a:xfrm>
          <a:prstGeom prst="rect">
            <a:avLst/>
          </a:prstGeom>
          <a:noFill/>
        </p:spPr>
        <p:txBody>
          <a:bodyPr vert="horz" wrap="square" lIns="0" tIns="0" rIns="0" bIns="0" rtlCol="0">
            <a:spAutoFit/>
          </a:bodyPr>
          <a:lstStyle/>
          <a:p>
            <a:pPr>
              <a:spcAft>
                <a:spcPts val="800"/>
              </a:spcAft>
            </a:pPr>
            <a:r>
              <a:rPr lang="en-US" sz="3300" b="1">
                <a:solidFill>
                  <a:srgbClr val="F1F3F4"/>
                </a:solidFill>
                <a:latin typeface="Arial" panose="020B0604020202020204" pitchFamily="34" charset="0"/>
              </a:rPr>
              <a:t>A patient's condition can change while they wait</a:t>
            </a:r>
            <a:endParaRPr lang="en-GB" sz="3300" b="1">
              <a:solidFill>
                <a:srgbClr val="F1F3F4"/>
              </a:solidFill>
              <a:latin typeface="Arial" panose="020B0604020202020204" pitchFamily="34" charset="0"/>
            </a:endParaRPr>
          </a:p>
        </p:txBody>
      </p:sp>
      <p:sp>
        <p:nvSpPr>
          <p:cNvPr id="11" name="TextBox 10">
            <a:extLst>
              <a:ext uri="{FF2B5EF4-FFF2-40B4-BE49-F238E27FC236}">
                <a16:creationId xmlns:a16="http://schemas.microsoft.com/office/drawing/2014/main" id="{FDCC8F00-ECBF-8AA1-04B4-48E8FDC6C393}"/>
              </a:ext>
            </a:extLst>
          </p:cNvPr>
          <p:cNvSpPr txBox="1"/>
          <p:nvPr/>
        </p:nvSpPr>
        <p:spPr>
          <a:xfrm>
            <a:off x="6705600" y="2476500"/>
            <a:ext cx="4699000" cy="707886"/>
          </a:xfrm>
          <a:prstGeom prst="rect">
            <a:avLst/>
          </a:prstGeom>
          <a:noFill/>
        </p:spPr>
        <p:txBody>
          <a:bodyPr vert="horz" wrap="square" lIns="0" tIns="0" rIns="0" bIns="0" rtlCol="0">
            <a:spAutoFit/>
          </a:bodyPr>
          <a:lstStyle/>
          <a:p>
            <a:pPr>
              <a:spcAft>
                <a:spcPts val="800"/>
              </a:spcAft>
            </a:pPr>
            <a:r>
              <a:rPr lang="en-US" sz="2300">
                <a:solidFill>
                  <a:srgbClr val="B2BDC3"/>
                </a:solidFill>
                <a:latin typeface="Arial" panose="020B0604020202020204" pitchFamily="34" charset="0"/>
              </a:rPr>
              <a:t>Patients need a way to share changes and ask for help.</a:t>
            </a:r>
            <a:endParaRPr lang="en-GB" sz="2300">
              <a:solidFill>
                <a:srgbClr val="B2BDC3"/>
              </a:solidFill>
              <a:latin typeface="Arial" panose="020B0604020202020204" pitchFamily="34" charset="0"/>
            </a:endParaRPr>
          </a:p>
        </p:txBody>
      </p:sp>
      <p:sp>
        <p:nvSpPr>
          <p:cNvPr id="12" name="TextBox 11">
            <a:extLst>
              <a:ext uri="{FF2B5EF4-FFF2-40B4-BE49-F238E27FC236}">
                <a16:creationId xmlns:a16="http://schemas.microsoft.com/office/drawing/2014/main" id="{F0DE4753-553E-FC02-227C-A602FC02532B}"/>
              </a:ext>
            </a:extLst>
          </p:cNvPr>
          <p:cNvSpPr txBox="1"/>
          <p:nvPr/>
        </p:nvSpPr>
        <p:spPr>
          <a:xfrm>
            <a:off x="6705600" y="3987800"/>
            <a:ext cx="4699000" cy="707886"/>
          </a:xfrm>
          <a:prstGeom prst="rect">
            <a:avLst/>
          </a:prstGeom>
          <a:noFill/>
        </p:spPr>
        <p:txBody>
          <a:bodyPr vert="horz" wrap="square" lIns="0" tIns="0" rIns="0" bIns="0" rtlCol="0">
            <a:spAutoFit/>
          </a:bodyPr>
          <a:lstStyle/>
          <a:p>
            <a:pPr>
              <a:spcAft>
                <a:spcPts val="800"/>
              </a:spcAft>
            </a:pPr>
            <a:r>
              <a:rPr lang="en-US" sz="2300">
                <a:solidFill>
                  <a:srgbClr val="B2BDC3"/>
                </a:solidFill>
                <a:latin typeface="Arial" panose="020B0604020202020204" pitchFamily="34" charset="0"/>
              </a:rPr>
              <a:t>Staff need a clear view of readings and items awaiting review.</a:t>
            </a:r>
            <a:endParaRPr lang="en-GB" sz="2300">
              <a:solidFill>
                <a:srgbClr val="B2BDC3"/>
              </a:solidFill>
              <a:latin typeface="Arial" panose="020B0604020202020204" pitchFamily="34" charset="0"/>
            </a:endParaRPr>
          </a:p>
        </p:txBody>
      </p:sp>
    </p:spTree>
    <p:extLst>
      <p:ext uri="{BB962C8B-B14F-4D97-AF65-F5344CB8AC3E}">
        <p14:creationId xmlns:p14="http://schemas.microsoft.com/office/powerpoint/2010/main" val="3651886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41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25A48B-CDDC-4B17-7BC7-D49951EB2CC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84200" y="368300"/>
            <a:ext cx="368300" cy="368300"/>
          </a:xfrm>
          <a:prstGeom prst="rect">
            <a:avLst/>
          </a:prstGeom>
        </p:spPr>
      </p:pic>
      <p:sp>
        <p:nvSpPr>
          <p:cNvPr id="4" name="TextBox 3">
            <a:extLst>
              <a:ext uri="{FF2B5EF4-FFF2-40B4-BE49-F238E27FC236}">
                <a16:creationId xmlns:a16="http://schemas.microsoft.com/office/drawing/2014/main" id="{4C07B5A4-7E9E-B582-AFD7-59AA445B7693}"/>
              </a:ext>
            </a:extLst>
          </p:cNvPr>
          <p:cNvSpPr txBox="1"/>
          <p:nvPr/>
        </p:nvSpPr>
        <p:spPr>
          <a:xfrm>
            <a:off x="1066800" y="355600"/>
            <a:ext cx="1397000" cy="353943"/>
          </a:xfrm>
          <a:prstGeom prst="rect">
            <a:avLst/>
          </a:prstGeom>
          <a:noFill/>
        </p:spPr>
        <p:txBody>
          <a:bodyPr vert="horz" wrap="square" lIns="0" tIns="0" rIns="0" bIns="0" rtlCol="0">
            <a:spAutoFit/>
          </a:bodyPr>
          <a:lstStyle/>
          <a:p>
            <a:pPr>
              <a:spcAft>
                <a:spcPts val="800"/>
              </a:spcAft>
            </a:pPr>
            <a:r>
              <a:rPr lang="en-GB" sz="2300" b="1">
                <a:solidFill>
                  <a:srgbClr val="F1F3F4"/>
                </a:solidFill>
                <a:latin typeface="Arial" panose="020B0604020202020204" pitchFamily="34" charset="0"/>
              </a:rPr>
              <a:t>pulse.</a:t>
            </a:r>
          </a:p>
        </p:txBody>
      </p:sp>
      <p:sp>
        <p:nvSpPr>
          <p:cNvPr id="5" name="TextBox 4">
            <a:extLst>
              <a:ext uri="{FF2B5EF4-FFF2-40B4-BE49-F238E27FC236}">
                <a16:creationId xmlns:a16="http://schemas.microsoft.com/office/drawing/2014/main" id="{C621E3E1-4F1F-A5E6-6E8A-D56AD4A29AD4}"/>
              </a:ext>
            </a:extLst>
          </p:cNvPr>
          <p:cNvSpPr txBox="1"/>
          <p:nvPr/>
        </p:nvSpPr>
        <p:spPr>
          <a:xfrm>
            <a:off x="7747000" y="457200"/>
            <a:ext cx="3810000" cy="169277"/>
          </a:xfrm>
          <a:prstGeom prst="rect">
            <a:avLst/>
          </a:prstGeom>
          <a:noFill/>
        </p:spPr>
        <p:txBody>
          <a:bodyPr vert="horz" wrap="square" lIns="0" tIns="0" rIns="0" bIns="0" rtlCol="0">
            <a:spAutoFit/>
          </a:bodyPr>
          <a:lstStyle/>
          <a:p>
            <a:pPr>
              <a:spcAft>
                <a:spcPts val="800"/>
              </a:spcAft>
            </a:pPr>
            <a:r>
              <a:rPr lang="en-GB" sz="1100">
                <a:solidFill>
                  <a:srgbClr val="B2BDC3"/>
                </a:solidFill>
                <a:latin typeface="Arial" panose="020B0604020202020204" pitchFamily="34" charset="0"/>
              </a:rPr>
              <a:t>THE PATIENT JOURNEY</a:t>
            </a:r>
          </a:p>
        </p:txBody>
      </p:sp>
      <p:sp>
        <p:nvSpPr>
          <p:cNvPr id="6" name="Rectangle 5">
            <a:extLst>
              <a:ext uri="{FF2B5EF4-FFF2-40B4-BE49-F238E27FC236}">
                <a16:creationId xmlns:a16="http://schemas.microsoft.com/office/drawing/2014/main" id="{0C69CBE1-CCA1-293A-B9C5-D2EE127907D9}"/>
              </a:ext>
            </a:extLst>
          </p:cNvPr>
          <p:cNvSpPr/>
          <p:nvPr/>
        </p:nvSpPr>
        <p:spPr>
          <a:xfrm>
            <a:off x="584200" y="6235700"/>
            <a:ext cx="11023600" cy="12700"/>
          </a:xfrm>
          <a:prstGeom prst="rect">
            <a:avLst/>
          </a:prstGeom>
          <a:solidFill>
            <a:srgbClr val="3844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40ACA758-7EF5-FE7E-69A8-0983A4CEDD66}"/>
              </a:ext>
            </a:extLst>
          </p:cNvPr>
          <p:cNvSpPr txBox="1"/>
          <p:nvPr/>
        </p:nvSpPr>
        <p:spPr>
          <a:xfrm>
            <a:off x="584200" y="6438900"/>
            <a:ext cx="8763000" cy="138499"/>
          </a:xfrm>
          <a:prstGeom prst="rect">
            <a:avLst/>
          </a:prstGeom>
          <a:noFill/>
        </p:spPr>
        <p:txBody>
          <a:bodyPr vert="horz" wrap="square" lIns="0" tIns="0" rIns="0" bIns="0" rtlCol="0">
            <a:spAutoFit/>
          </a:bodyPr>
          <a:lstStyle/>
          <a:p>
            <a:pPr>
              <a:spcAft>
                <a:spcPts val="800"/>
              </a:spcAft>
            </a:pPr>
            <a:r>
              <a:rPr lang="en-GB" sz="900">
                <a:solidFill>
                  <a:srgbClr val="B2BDC3"/>
                </a:solidFill>
                <a:latin typeface="Arial" panose="020B0604020202020204" pitchFamily="34" charset="0"/>
              </a:rPr>
              <a:t>PULSE / HEALTHCARE HACKATHON PROTOTYPE</a:t>
            </a:r>
          </a:p>
        </p:txBody>
      </p:sp>
      <p:sp>
        <p:nvSpPr>
          <p:cNvPr id="8" name="TextBox 7">
            <a:extLst>
              <a:ext uri="{FF2B5EF4-FFF2-40B4-BE49-F238E27FC236}">
                <a16:creationId xmlns:a16="http://schemas.microsoft.com/office/drawing/2014/main" id="{539AE517-AD19-7292-9431-ABDF2B3B407E}"/>
              </a:ext>
            </a:extLst>
          </p:cNvPr>
          <p:cNvSpPr txBox="1"/>
          <p:nvPr/>
        </p:nvSpPr>
        <p:spPr>
          <a:xfrm>
            <a:off x="11163300" y="6400800"/>
            <a:ext cx="444500" cy="184666"/>
          </a:xfrm>
          <a:prstGeom prst="rect">
            <a:avLst/>
          </a:prstGeom>
          <a:noFill/>
        </p:spPr>
        <p:txBody>
          <a:bodyPr vert="horz" wrap="square" lIns="0" tIns="0" rIns="0" bIns="0" rtlCol="0">
            <a:spAutoFit/>
          </a:bodyPr>
          <a:lstStyle/>
          <a:p>
            <a:pPr>
              <a:spcAft>
                <a:spcPts val="800"/>
              </a:spcAft>
            </a:pPr>
            <a:r>
              <a:rPr lang="en-GB" sz="1200" b="1">
                <a:solidFill>
                  <a:srgbClr val="F16B6B"/>
                </a:solidFill>
                <a:latin typeface="Arial" panose="020B0604020202020204" pitchFamily="34" charset="0"/>
              </a:rPr>
              <a:t>03</a:t>
            </a:r>
          </a:p>
        </p:txBody>
      </p:sp>
      <p:sp>
        <p:nvSpPr>
          <p:cNvPr id="9" name="TextBox 8">
            <a:extLst>
              <a:ext uri="{FF2B5EF4-FFF2-40B4-BE49-F238E27FC236}">
                <a16:creationId xmlns:a16="http://schemas.microsoft.com/office/drawing/2014/main" id="{6CA368CA-E0CF-BC61-F548-AF63196FDCFF}"/>
              </a:ext>
            </a:extLst>
          </p:cNvPr>
          <p:cNvSpPr txBox="1"/>
          <p:nvPr/>
        </p:nvSpPr>
        <p:spPr>
          <a:xfrm>
            <a:off x="584200" y="1244600"/>
            <a:ext cx="11023600" cy="553998"/>
          </a:xfrm>
          <a:prstGeom prst="rect">
            <a:avLst/>
          </a:prstGeom>
          <a:noFill/>
        </p:spPr>
        <p:txBody>
          <a:bodyPr vert="horz" wrap="square" lIns="0" tIns="0" rIns="0" bIns="0" rtlCol="0">
            <a:spAutoFit/>
          </a:bodyPr>
          <a:lstStyle/>
          <a:p>
            <a:pPr>
              <a:spcAft>
                <a:spcPts val="800"/>
              </a:spcAft>
            </a:pPr>
            <a:r>
              <a:rPr lang="en-GB" sz="3600" b="1">
                <a:solidFill>
                  <a:srgbClr val="F1F3F4"/>
                </a:solidFill>
                <a:latin typeface="Arial" panose="020B0604020202020204" pitchFamily="34" charset="0"/>
              </a:rPr>
              <a:t>One journey through Pulse</a:t>
            </a:r>
          </a:p>
        </p:txBody>
      </p:sp>
      <p:sp>
        <p:nvSpPr>
          <p:cNvPr id="10" name="TextBox 9">
            <a:extLst>
              <a:ext uri="{FF2B5EF4-FFF2-40B4-BE49-F238E27FC236}">
                <a16:creationId xmlns:a16="http://schemas.microsoft.com/office/drawing/2014/main" id="{021FDC88-AD47-89E7-0BA2-908A410FB597}"/>
              </a:ext>
            </a:extLst>
          </p:cNvPr>
          <p:cNvSpPr txBox="1"/>
          <p:nvPr/>
        </p:nvSpPr>
        <p:spPr>
          <a:xfrm>
            <a:off x="584200" y="2413000"/>
            <a:ext cx="762000" cy="477054"/>
          </a:xfrm>
          <a:prstGeom prst="rect">
            <a:avLst/>
          </a:prstGeom>
          <a:noFill/>
        </p:spPr>
        <p:txBody>
          <a:bodyPr vert="horz" wrap="square" lIns="0" tIns="0" rIns="0" bIns="0" rtlCol="0">
            <a:spAutoFit/>
          </a:bodyPr>
          <a:lstStyle/>
          <a:p>
            <a:pPr>
              <a:spcAft>
                <a:spcPts val="800"/>
              </a:spcAft>
            </a:pPr>
            <a:r>
              <a:rPr lang="en-GB" sz="3100" b="1">
                <a:solidFill>
                  <a:srgbClr val="F16B6B"/>
                </a:solidFill>
                <a:latin typeface="Arial" panose="020B0604020202020204" pitchFamily="34" charset="0"/>
              </a:rPr>
              <a:t>01</a:t>
            </a:r>
          </a:p>
        </p:txBody>
      </p:sp>
      <p:sp>
        <p:nvSpPr>
          <p:cNvPr id="11" name="TextBox 10">
            <a:extLst>
              <a:ext uri="{FF2B5EF4-FFF2-40B4-BE49-F238E27FC236}">
                <a16:creationId xmlns:a16="http://schemas.microsoft.com/office/drawing/2014/main" id="{C2F24346-43C6-4F70-3EEF-ACAD8678ABE7}"/>
              </a:ext>
            </a:extLst>
          </p:cNvPr>
          <p:cNvSpPr txBox="1"/>
          <p:nvPr/>
        </p:nvSpPr>
        <p:spPr>
          <a:xfrm>
            <a:off x="1511300" y="2413000"/>
            <a:ext cx="4318000" cy="353943"/>
          </a:xfrm>
          <a:prstGeom prst="rect">
            <a:avLst/>
          </a:prstGeom>
          <a:noFill/>
        </p:spPr>
        <p:txBody>
          <a:bodyPr vert="horz" wrap="square" lIns="0" tIns="0" rIns="0" bIns="0" rtlCol="0">
            <a:spAutoFit/>
          </a:bodyPr>
          <a:lstStyle/>
          <a:p>
            <a:pPr>
              <a:spcAft>
                <a:spcPts val="800"/>
              </a:spcAft>
            </a:pPr>
            <a:r>
              <a:rPr lang="en-GB" sz="2300" b="1">
                <a:solidFill>
                  <a:srgbClr val="F1F3F4"/>
                </a:solidFill>
                <a:latin typeface="Arial" panose="020B0604020202020204" pitchFamily="34" charset="0"/>
              </a:rPr>
              <a:t>Choose a hospital</a:t>
            </a:r>
          </a:p>
        </p:txBody>
      </p:sp>
      <p:sp>
        <p:nvSpPr>
          <p:cNvPr id="12" name="TextBox 11">
            <a:extLst>
              <a:ext uri="{FF2B5EF4-FFF2-40B4-BE49-F238E27FC236}">
                <a16:creationId xmlns:a16="http://schemas.microsoft.com/office/drawing/2014/main" id="{E8DB09DF-EB99-3D92-F7BA-73B6F10990A6}"/>
              </a:ext>
            </a:extLst>
          </p:cNvPr>
          <p:cNvSpPr txBox="1"/>
          <p:nvPr/>
        </p:nvSpPr>
        <p:spPr>
          <a:xfrm>
            <a:off x="1511300" y="3009900"/>
            <a:ext cx="4216400" cy="584775"/>
          </a:xfrm>
          <a:prstGeom prst="rect">
            <a:avLst/>
          </a:prstGeom>
          <a:noFill/>
        </p:spPr>
        <p:txBody>
          <a:bodyPr vert="horz" wrap="square" lIns="0" tIns="0" rIns="0" bIns="0" rtlCol="0">
            <a:spAutoFit/>
          </a:bodyPr>
          <a:lstStyle/>
          <a:p>
            <a:pPr>
              <a:spcAft>
                <a:spcPts val="800"/>
              </a:spcAft>
            </a:pPr>
            <a:r>
              <a:rPr lang="en-US" sz="1900">
                <a:solidFill>
                  <a:srgbClr val="B2BDC3"/>
                </a:solidFill>
                <a:latin typeface="Arial" panose="020B0604020202020204" pitchFamily="34" charset="0"/>
              </a:rPr>
              <a:t>Search a postcode and compare the supported hospitals.</a:t>
            </a:r>
            <a:endParaRPr lang="en-GB" sz="1900">
              <a:solidFill>
                <a:srgbClr val="B2BDC3"/>
              </a:solidFill>
              <a:latin typeface="Arial" panose="020B0604020202020204" pitchFamily="34" charset="0"/>
            </a:endParaRPr>
          </a:p>
        </p:txBody>
      </p:sp>
      <p:sp>
        <p:nvSpPr>
          <p:cNvPr id="13" name="TextBox 12">
            <a:extLst>
              <a:ext uri="{FF2B5EF4-FFF2-40B4-BE49-F238E27FC236}">
                <a16:creationId xmlns:a16="http://schemas.microsoft.com/office/drawing/2014/main" id="{E3A31CE6-AE3F-C3C0-1716-38BE949087BE}"/>
              </a:ext>
            </a:extLst>
          </p:cNvPr>
          <p:cNvSpPr txBox="1"/>
          <p:nvPr/>
        </p:nvSpPr>
        <p:spPr>
          <a:xfrm>
            <a:off x="6299200" y="2413000"/>
            <a:ext cx="762000" cy="477054"/>
          </a:xfrm>
          <a:prstGeom prst="rect">
            <a:avLst/>
          </a:prstGeom>
          <a:noFill/>
        </p:spPr>
        <p:txBody>
          <a:bodyPr vert="horz" wrap="square" lIns="0" tIns="0" rIns="0" bIns="0" rtlCol="0">
            <a:spAutoFit/>
          </a:bodyPr>
          <a:lstStyle/>
          <a:p>
            <a:pPr>
              <a:spcAft>
                <a:spcPts val="800"/>
              </a:spcAft>
            </a:pPr>
            <a:r>
              <a:rPr lang="en-GB" sz="3100" b="1">
                <a:solidFill>
                  <a:srgbClr val="F16B6B"/>
                </a:solidFill>
                <a:latin typeface="Arial" panose="020B0604020202020204" pitchFamily="34" charset="0"/>
              </a:rPr>
              <a:t>02</a:t>
            </a:r>
          </a:p>
        </p:txBody>
      </p:sp>
      <p:sp>
        <p:nvSpPr>
          <p:cNvPr id="14" name="TextBox 13">
            <a:extLst>
              <a:ext uri="{FF2B5EF4-FFF2-40B4-BE49-F238E27FC236}">
                <a16:creationId xmlns:a16="http://schemas.microsoft.com/office/drawing/2014/main" id="{611F731E-3BD7-D51A-A5A5-DB8B2D1A4245}"/>
              </a:ext>
            </a:extLst>
          </p:cNvPr>
          <p:cNvSpPr txBox="1"/>
          <p:nvPr/>
        </p:nvSpPr>
        <p:spPr>
          <a:xfrm>
            <a:off x="7226300" y="2413000"/>
            <a:ext cx="4318000" cy="353943"/>
          </a:xfrm>
          <a:prstGeom prst="rect">
            <a:avLst/>
          </a:prstGeom>
          <a:noFill/>
        </p:spPr>
        <p:txBody>
          <a:bodyPr vert="horz" wrap="square" lIns="0" tIns="0" rIns="0" bIns="0" rtlCol="0">
            <a:spAutoFit/>
          </a:bodyPr>
          <a:lstStyle/>
          <a:p>
            <a:pPr>
              <a:spcAft>
                <a:spcPts val="800"/>
              </a:spcAft>
            </a:pPr>
            <a:r>
              <a:rPr lang="en-GB" sz="2300" b="1">
                <a:solidFill>
                  <a:srgbClr val="F1F3F4"/>
                </a:solidFill>
                <a:latin typeface="Arial" panose="020B0604020202020204" pitchFamily="34" charset="0"/>
              </a:rPr>
              <a:t>Share symptoms</a:t>
            </a:r>
          </a:p>
        </p:txBody>
      </p:sp>
      <p:sp>
        <p:nvSpPr>
          <p:cNvPr id="15" name="TextBox 14">
            <a:extLst>
              <a:ext uri="{FF2B5EF4-FFF2-40B4-BE49-F238E27FC236}">
                <a16:creationId xmlns:a16="http://schemas.microsoft.com/office/drawing/2014/main" id="{AB0836E5-35A1-50F8-0DC1-AAD6195F9B6C}"/>
              </a:ext>
            </a:extLst>
          </p:cNvPr>
          <p:cNvSpPr txBox="1"/>
          <p:nvPr/>
        </p:nvSpPr>
        <p:spPr>
          <a:xfrm>
            <a:off x="7226300" y="3009900"/>
            <a:ext cx="4216400" cy="292388"/>
          </a:xfrm>
          <a:prstGeom prst="rect">
            <a:avLst/>
          </a:prstGeom>
          <a:noFill/>
        </p:spPr>
        <p:txBody>
          <a:bodyPr vert="horz" wrap="square" lIns="0" tIns="0" rIns="0" bIns="0" rtlCol="0">
            <a:spAutoFit/>
          </a:bodyPr>
          <a:lstStyle/>
          <a:p>
            <a:pPr>
              <a:spcAft>
                <a:spcPts val="800"/>
              </a:spcAft>
            </a:pPr>
            <a:r>
              <a:rPr lang="en-US" sz="1900">
                <a:solidFill>
                  <a:srgbClr val="B2BDC3"/>
                </a:solidFill>
                <a:latin typeface="Arial" panose="020B0604020202020204" pitchFamily="34" charset="0"/>
              </a:rPr>
              <a:t>Complete and review the intake form.</a:t>
            </a:r>
            <a:endParaRPr lang="en-GB" sz="1900">
              <a:solidFill>
                <a:srgbClr val="B2BDC3"/>
              </a:solidFill>
              <a:latin typeface="Arial" panose="020B0604020202020204" pitchFamily="34" charset="0"/>
            </a:endParaRPr>
          </a:p>
        </p:txBody>
      </p:sp>
      <p:sp>
        <p:nvSpPr>
          <p:cNvPr id="16" name="TextBox 15">
            <a:extLst>
              <a:ext uri="{FF2B5EF4-FFF2-40B4-BE49-F238E27FC236}">
                <a16:creationId xmlns:a16="http://schemas.microsoft.com/office/drawing/2014/main" id="{DD930955-85CA-7AEE-8FEA-94E4651E107F}"/>
              </a:ext>
            </a:extLst>
          </p:cNvPr>
          <p:cNvSpPr txBox="1"/>
          <p:nvPr/>
        </p:nvSpPr>
        <p:spPr>
          <a:xfrm>
            <a:off x="584200" y="4254500"/>
            <a:ext cx="762000" cy="477054"/>
          </a:xfrm>
          <a:prstGeom prst="rect">
            <a:avLst/>
          </a:prstGeom>
          <a:noFill/>
        </p:spPr>
        <p:txBody>
          <a:bodyPr vert="horz" wrap="square" lIns="0" tIns="0" rIns="0" bIns="0" rtlCol="0">
            <a:spAutoFit/>
          </a:bodyPr>
          <a:lstStyle/>
          <a:p>
            <a:pPr>
              <a:spcAft>
                <a:spcPts val="800"/>
              </a:spcAft>
            </a:pPr>
            <a:r>
              <a:rPr lang="en-GB" sz="3100" b="1">
                <a:solidFill>
                  <a:srgbClr val="F16B6B"/>
                </a:solidFill>
                <a:latin typeface="Arial" panose="020B0604020202020204" pitchFamily="34" charset="0"/>
              </a:rPr>
              <a:t>03</a:t>
            </a:r>
          </a:p>
        </p:txBody>
      </p:sp>
      <p:sp>
        <p:nvSpPr>
          <p:cNvPr id="17" name="TextBox 16">
            <a:extLst>
              <a:ext uri="{FF2B5EF4-FFF2-40B4-BE49-F238E27FC236}">
                <a16:creationId xmlns:a16="http://schemas.microsoft.com/office/drawing/2014/main" id="{C1EFD18B-3F2A-CD47-4B34-43D04EA00E22}"/>
              </a:ext>
            </a:extLst>
          </p:cNvPr>
          <p:cNvSpPr txBox="1"/>
          <p:nvPr/>
        </p:nvSpPr>
        <p:spPr>
          <a:xfrm>
            <a:off x="1511300" y="4254500"/>
            <a:ext cx="4318000" cy="353943"/>
          </a:xfrm>
          <a:prstGeom prst="rect">
            <a:avLst/>
          </a:prstGeom>
          <a:noFill/>
        </p:spPr>
        <p:txBody>
          <a:bodyPr vert="horz" wrap="square" lIns="0" tIns="0" rIns="0" bIns="0" rtlCol="0">
            <a:spAutoFit/>
          </a:bodyPr>
          <a:lstStyle/>
          <a:p>
            <a:pPr>
              <a:spcAft>
                <a:spcPts val="800"/>
              </a:spcAft>
            </a:pPr>
            <a:r>
              <a:rPr lang="en-GB" sz="2300" b="1">
                <a:solidFill>
                  <a:srgbClr val="F1F3F4"/>
                </a:solidFill>
                <a:latin typeface="Arial" panose="020B0604020202020204" pitchFamily="34" charset="0"/>
              </a:rPr>
              <a:t>Confirm arrival</a:t>
            </a:r>
          </a:p>
        </p:txBody>
      </p:sp>
      <p:sp>
        <p:nvSpPr>
          <p:cNvPr id="18" name="TextBox 17">
            <a:extLst>
              <a:ext uri="{FF2B5EF4-FFF2-40B4-BE49-F238E27FC236}">
                <a16:creationId xmlns:a16="http://schemas.microsoft.com/office/drawing/2014/main" id="{8D675303-16B2-A64F-0F4E-28A035F29A3C}"/>
              </a:ext>
            </a:extLst>
          </p:cNvPr>
          <p:cNvSpPr txBox="1"/>
          <p:nvPr/>
        </p:nvSpPr>
        <p:spPr>
          <a:xfrm>
            <a:off x="1511300" y="4851400"/>
            <a:ext cx="4216400" cy="584775"/>
          </a:xfrm>
          <a:prstGeom prst="rect">
            <a:avLst/>
          </a:prstGeom>
          <a:noFill/>
        </p:spPr>
        <p:txBody>
          <a:bodyPr vert="horz" wrap="square" lIns="0" tIns="0" rIns="0" bIns="0" rtlCol="0">
            <a:spAutoFit/>
          </a:bodyPr>
          <a:lstStyle/>
          <a:p>
            <a:pPr>
              <a:spcAft>
                <a:spcPts val="800"/>
              </a:spcAft>
            </a:pPr>
            <a:r>
              <a:rPr lang="en-US" sz="1900">
                <a:solidFill>
                  <a:srgbClr val="B2BDC3"/>
                </a:solidFill>
                <a:latin typeface="Arial" panose="020B0604020202020204" pitchFamily="34" charset="0"/>
              </a:rPr>
              <a:t>Staff check in the patient and assign a band.</a:t>
            </a:r>
            <a:endParaRPr lang="en-GB" sz="1900">
              <a:solidFill>
                <a:srgbClr val="B2BDC3"/>
              </a:solidFill>
              <a:latin typeface="Arial" panose="020B0604020202020204" pitchFamily="34" charset="0"/>
            </a:endParaRPr>
          </a:p>
        </p:txBody>
      </p:sp>
      <p:sp>
        <p:nvSpPr>
          <p:cNvPr id="19" name="TextBox 18">
            <a:extLst>
              <a:ext uri="{FF2B5EF4-FFF2-40B4-BE49-F238E27FC236}">
                <a16:creationId xmlns:a16="http://schemas.microsoft.com/office/drawing/2014/main" id="{E49AAEF4-E0F6-EA5F-6F2C-185C1C0DA194}"/>
              </a:ext>
            </a:extLst>
          </p:cNvPr>
          <p:cNvSpPr txBox="1"/>
          <p:nvPr/>
        </p:nvSpPr>
        <p:spPr>
          <a:xfrm>
            <a:off x="6299200" y="4254500"/>
            <a:ext cx="762000" cy="477054"/>
          </a:xfrm>
          <a:prstGeom prst="rect">
            <a:avLst/>
          </a:prstGeom>
          <a:noFill/>
        </p:spPr>
        <p:txBody>
          <a:bodyPr vert="horz" wrap="square" lIns="0" tIns="0" rIns="0" bIns="0" rtlCol="0">
            <a:spAutoFit/>
          </a:bodyPr>
          <a:lstStyle/>
          <a:p>
            <a:pPr>
              <a:spcAft>
                <a:spcPts val="800"/>
              </a:spcAft>
            </a:pPr>
            <a:r>
              <a:rPr lang="en-GB" sz="3100" b="1">
                <a:solidFill>
                  <a:srgbClr val="F16B6B"/>
                </a:solidFill>
                <a:latin typeface="Arial" panose="020B0604020202020204" pitchFamily="34" charset="0"/>
              </a:rPr>
              <a:t>04</a:t>
            </a:r>
          </a:p>
        </p:txBody>
      </p:sp>
      <p:sp>
        <p:nvSpPr>
          <p:cNvPr id="20" name="TextBox 19">
            <a:extLst>
              <a:ext uri="{FF2B5EF4-FFF2-40B4-BE49-F238E27FC236}">
                <a16:creationId xmlns:a16="http://schemas.microsoft.com/office/drawing/2014/main" id="{B1D8D0D8-E8A4-827F-E7E7-FDA89366117F}"/>
              </a:ext>
            </a:extLst>
          </p:cNvPr>
          <p:cNvSpPr txBox="1"/>
          <p:nvPr/>
        </p:nvSpPr>
        <p:spPr>
          <a:xfrm>
            <a:off x="7226300" y="4254500"/>
            <a:ext cx="4318000" cy="353943"/>
          </a:xfrm>
          <a:prstGeom prst="rect">
            <a:avLst/>
          </a:prstGeom>
          <a:noFill/>
        </p:spPr>
        <p:txBody>
          <a:bodyPr vert="horz" wrap="square" lIns="0" tIns="0" rIns="0" bIns="0" rtlCol="0">
            <a:spAutoFit/>
          </a:bodyPr>
          <a:lstStyle/>
          <a:p>
            <a:pPr>
              <a:spcAft>
                <a:spcPts val="800"/>
              </a:spcAft>
            </a:pPr>
            <a:r>
              <a:rPr lang="en-GB" sz="2300" b="1">
                <a:solidFill>
                  <a:srgbClr val="F1F3F4"/>
                </a:solidFill>
                <a:latin typeface="Arial" panose="020B0604020202020204" pitchFamily="34" charset="0"/>
              </a:rPr>
              <a:t>Stay in contact</a:t>
            </a:r>
          </a:p>
        </p:txBody>
      </p:sp>
      <p:sp>
        <p:nvSpPr>
          <p:cNvPr id="21" name="TextBox 20">
            <a:extLst>
              <a:ext uri="{FF2B5EF4-FFF2-40B4-BE49-F238E27FC236}">
                <a16:creationId xmlns:a16="http://schemas.microsoft.com/office/drawing/2014/main" id="{E3C7F9C4-2C87-1186-82EE-C2A79570DFEB}"/>
              </a:ext>
            </a:extLst>
          </p:cNvPr>
          <p:cNvSpPr txBox="1"/>
          <p:nvPr/>
        </p:nvSpPr>
        <p:spPr>
          <a:xfrm>
            <a:off x="7226300" y="4851400"/>
            <a:ext cx="4216400" cy="584775"/>
          </a:xfrm>
          <a:prstGeom prst="rect">
            <a:avLst/>
          </a:prstGeom>
          <a:noFill/>
        </p:spPr>
        <p:txBody>
          <a:bodyPr vert="horz" wrap="square" lIns="0" tIns="0" rIns="0" bIns="0" rtlCol="0">
            <a:spAutoFit/>
          </a:bodyPr>
          <a:lstStyle/>
          <a:p>
            <a:pPr>
              <a:spcAft>
                <a:spcPts val="800"/>
              </a:spcAft>
            </a:pPr>
            <a:r>
              <a:rPr lang="en-US" sz="1900">
                <a:solidFill>
                  <a:srgbClr val="B2BDC3"/>
                </a:solidFill>
                <a:latin typeface="Arial" panose="020B0604020202020204" pitchFamily="34" charset="0"/>
              </a:rPr>
              <a:t>View readings and send updates to human staff.</a:t>
            </a:r>
            <a:endParaRPr lang="en-GB" sz="1900">
              <a:solidFill>
                <a:srgbClr val="B2BDC3"/>
              </a:solidFill>
              <a:latin typeface="Arial" panose="020B0604020202020204" pitchFamily="34" charset="0"/>
            </a:endParaRPr>
          </a:p>
        </p:txBody>
      </p:sp>
    </p:spTree>
    <p:extLst>
      <p:ext uri="{BB962C8B-B14F-4D97-AF65-F5344CB8AC3E}">
        <p14:creationId xmlns:p14="http://schemas.microsoft.com/office/powerpoint/2010/main" val="1616187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141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88C530-3A2D-882C-821E-920B88D6057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84200" y="368300"/>
            <a:ext cx="368300" cy="368300"/>
          </a:xfrm>
          <a:prstGeom prst="rect">
            <a:avLst/>
          </a:prstGeom>
        </p:spPr>
      </p:pic>
      <p:sp>
        <p:nvSpPr>
          <p:cNvPr id="4" name="TextBox 3">
            <a:extLst>
              <a:ext uri="{FF2B5EF4-FFF2-40B4-BE49-F238E27FC236}">
                <a16:creationId xmlns:a16="http://schemas.microsoft.com/office/drawing/2014/main" id="{AD235A84-F5CB-10B6-2A42-372447073C76}"/>
              </a:ext>
            </a:extLst>
          </p:cNvPr>
          <p:cNvSpPr txBox="1"/>
          <p:nvPr/>
        </p:nvSpPr>
        <p:spPr>
          <a:xfrm>
            <a:off x="1066800" y="355600"/>
            <a:ext cx="1397000" cy="353943"/>
          </a:xfrm>
          <a:prstGeom prst="rect">
            <a:avLst/>
          </a:prstGeom>
          <a:noFill/>
        </p:spPr>
        <p:txBody>
          <a:bodyPr vert="horz" wrap="square" lIns="0" tIns="0" rIns="0" bIns="0" rtlCol="0">
            <a:spAutoFit/>
          </a:bodyPr>
          <a:lstStyle/>
          <a:p>
            <a:pPr>
              <a:spcAft>
                <a:spcPts val="800"/>
              </a:spcAft>
            </a:pPr>
            <a:r>
              <a:rPr lang="en-GB" sz="2300" b="1">
                <a:solidFill>
                  <a:srgbClr val="F1F3F4"/>
                </a:solidFill>
                <a:latin typeface="Arial" panose="020B0604020202020204" pitchFamily="34" charset="0"/>
              </a:rPr>
              <a:t>pulse.</a:t>
            </a:r>
          </a:p>
        </p:txBody>
      </p:sp>
      <p:sp>
        <p:nvSpPr>
          <p:cNvPr id="5" name="TextBox 4">
            <a:extLst>
              <a:ext uri="{FF2B5EF4-FFF2-40B4-BE49-F238E27FC236}">
                <a16:creationId xmlns:a16="http://schemas.microsoft.com/office/drawing/2014/main" id="{68CA76BD-2B7A-10F1-FC76-8D2667C28724}"/>
              </a:ext>
            </a:extLst>
          </p:cNvPr>
          <p:cNvSpPr txBox="1"/>
          <p:nvPr/>
        </p:nvSpPr>
        <p:spPr>
          <a:xfrm>
            <a:off x="7747000" y="457200"/>
            <a:ext cx="3810000" cy="169277"/>
          </a:xfrm>
          <a:prstGeom prst="rect">
            <a:avLst/>
          </a:prstGeom>
          <a:noFill/>
        </p:spPr>
        <p:txBody>
          <a:bodyPr vert="horz" wrap="square" lIns="0" tIns="0" rIns="0" bIns="0" rtlCol="0">
            <a:spAutoFit/>
          </a:bodyPr>
          <a:lstStyle/>
          <a:p>
            <a:pPr>
              <a:spcAft>
                <a:spcPts val="800"/>
              </a:spcAft>
            </a:pPr>
            <a:r>
              <a:rPr lang="en-GB" sz="1100">
                <a:solidFill>
                  <a:srgbClr val="B2BDC3"/>
                </a:solidFill>
                <a:latin typeface="Arial" panose="020B0604020202020204" pitchFamily="34" charset="0"/>
              </a:rPr>
              <a:t>THE WEBSITE</a:t>
            </a:r>
          </a:p>
        </p:txBody>
      </p:sp>
      <p:sp>
        <p:nvSpPr>
          <p:cNvPr id="6" name="Rectangle 5">
            <a:extLst>
              <a:ext uri="{FF2B5EF4-FFF2-40B4-BE49-F238E27FC236}">
                <a16:creationId xmlns:a16="http://schemas.microsoft.com/office/drawing/2014/main" id="{C80690A4-E17E-3CDE-269B-BA64C6AD7401}"/>
              </a:ext>
            </a:extLst>
          </p:cNvPr>
          <p:cNvSpPr/>
          <p:nvPr/>
        </p:nvSpPr>
        <p:spPr>
          <a:xfrm>
            <a:off x="584200" y="6235700"/>
            <a:ext cx="11023600" cy="12700"/>
          </a:xfrm>
          <a:prstGeom prst="rect">
            <a:avLst/>
          </a:prstGeom>
          <a:solidFill>
            <a:srgbClr val="3844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D0763E35-8725-8640-491E-4B832606333A}"/>
              </a:ext>
            </a:extLst>
          </p:cNvPr>
          <p:cNvSpPr txBox="1"/>
          <p:nvPr/>
        </p:nvSpPr>
        <p:spPr>
          <a:xfrm>
            <a:off x="584200" y="6438900"/>
            <a:ext cx="8763000" cy="138499"/>
          </a:xfrm>
          <a:prstGeom prst="rect">
            <a:avLst/>
          </a:prstGeom>
          <a:noFill/>
        </p:spPr>
        <p:txBody>
          <a:bodyPr vert="horz" wrap="square" lIns="0" tIns="0" rIns="0" bIns="0" rtlCol="0">
            <a:spAutoFit/>
          </a:bodyPr>
          <a:lstStyle/>
          <a:p>
            <a:pPr>
              <a:spcAft>
                <a:spcPts val="800"/>
              </a:spcAft>
            </a:pPr>
            <a:r>
              <a:rPr lang="en-GB" sz="900">
                <a:solidFill>
                  <a:srgbClr val="B2BDC3"/>
                </a:solidFill>
                <a:latin typeface="Arial" panose="020B0604020202020204" pitchFamily="34" charset="0"/>
              </a:rPr>
              <a:t>PULSE / HEALTHCARE HACKATHON PROTOTYPE</a:t>
            </a:r>
          </a:p>
        </p:txBody>
      </p:sp>
      <p:sp>
        <p:nvSpPr>
          <p:cNvPr id="8" name="TextBox 7">
            <a:extLst>
              <a:ext uri="{FF2B5EF4-FFF2-40B4-BE49-F238E27FC236}">
                <a16:creationId xmlns:a16="http://schemas.microsoft.com/office/drawing/2014/main" id="{ED528A95-ED06-4020-E985-51B7F8642022}"/>
              </a:ext>
            </a:extLst>
          </p:cNvPr>
          <p:cNvSpPr txBox="1"/>
          <p:nvPr/>
        </p:nvSpPr>
        <p:spPr>
          <a:xfrm>
            <a:off x="11163300" y="6400800"/>
            <a:ext cx="444500" cy="184666"/>
          </a:xfrm>
          <a:prstGeom prst="rect">
            <a:avLst/>
          </a:prstGeom>
          <a:noFill/>
        </p:spPr>
        <p:txBody>
          <a:bodyPr vert="horz" wrap="square" lIns="0" tIns="0" rIns="0" bIns="0" rtlCol="0">
            <a:spAutoFit/>
          </a:bodyPr>
          <a:lstStyle/>
          <a:p>
            <a:pPr>
              <a:spcAft>
                <a:spcPts val="800"/>
              </a:spcAft>
            </a:pPr>
            <a:r>
              <a:rPr lang="en-GB" sz="1200" b="1">
                <a:solidFill>
                  <a:srgbClr val="F16B6B"/>
                </a:solidFill>
                <a:latin typeface="Arial" panose="020B0604020202020204" pitchFamily="34" charset="0"/>
              </a:rPr>
              <a:t>04</a:t>
            </a:r>
          </a:p>
        </p:txBody>
      </p:sp>
      <p:sp>
        <p:nvSpPr>
          <p:cNvPr id="9" name="TextBox 8">
            <a:extLst>
              <a:ext uri="{FF2B5EF4-FFF2-40B4-BE49-F238E27FC236}">
                <a16:creationId xmlns:a16="http://schemas.microsoft.com/office/drawing/2014/main" id="{A4C44753-0FB4-AE21-E7D5-1AA97EDFE4EC}"/>
              </a:ext>
            </a:extLst>
          </p:cNvPr>
          <p:cNvSpPr txBox="1"/>
          <p:nvPr/>
        </p:nvSpPr>
        <p:spPr>
          <a:xfrm>
            <a:off x="584200" y="1244600"/>
            <a:ext cx="11023600" cy="553998"/>
          </a:xfrm>
          <a:prstGeom prst="rect">
            <a:avLst/>
          </a:prstGeom>
          <a:noFill/>
        </p:spPr>
        <p:txBody>
          <a:bodyPr vert="horz" wrap="square" lIns="0" tIns="0" rIns="0" bIns="0" rtlCol="0">
            <a:spAutoFit/>
          </a:bodyPr>
          <a:lstStyle/>
          <a:p>
            <a:pPr>
              <a:spcAft>
                <a:spcPts val="800"/>
              </a:spcAft>
            </a:pPr>
            <a:r>
              <a:rPr lang="en-GB" sz="3600" b="1">
                <a:solidFill>
                  <a:srgbClr val="F1F3F4"/>
                </a:solidFill>
                <a:latin typeface="Arial" panose="020B0604020202020204" pitchFamily="34" charset="0"/>
              </a:rPr>
              <a:t>The Pulse website</a:t>
            </a:r>
          </a:p>
        </p:txBody>
      </p:sp>
      <p:sp>
        <p:nvSpPr>
          <p:cNvPr id="10" name="TextBox 9">
            <a:extLst>
              <a:ext uri="{FF2B5EF4-FFF2-40B4-BE49-F238E27FC236}">
                <a16:creationId xmlns:a16="http://schemas.microsoft.com/office/drawing/2014/main" id="{222AF9EA-8583-4205-D713-86C3184981DB}"/>
              </a:ext>
            </a:extLst>
          </p:cNvPr>
          <p:cNvSpPr txBox="1"/>
          <p:nvPr/>
        </p:nvSpPr>
        <p:spPr>
          <a:xfrm>
            <a:off x="584200" y="2476500"/>
            <a:ext cx="3530600" cy="1405513"/>
          </a:xfrm>
          <a:prstGeom prst="rect">
            <a:avLst/>
          </a:prstGeom>
          <a:noFill/>
        </p:spPr>
        <p:txBody>
          <a:bodyPr vert="horz" wrap="square" lIns="0" tIns="0" rIns="0" bIns="0" rtlCol="0">
            <a:spAutoFit/>
          </a:bodyPr>
          <a:lstStyle/>
          <a:p>
            <a:pPr>
              <a:spcAft>
                <a:spcPts val="800"/>
              </a:spcAft>
            </a:pPr>
            <a:r>
              <a:rPr lang="en-GB" sz="2600" b="1">
                <a:solidFill>
                  <a:srgbClr val="F16B6B"/>
                </a:solidFill>
                <a:latin typeface="Arial" panose="020B0604020202020204" pitchFamily="34" charset="0"/>
              </a:rPr>
              <a:t>Python Flask
HTML templates
CSS styling</a:t>
            </a:r>
          </a:p>
        </p:txBody>
      </p:sp>
      <p:sp>
        <p:nvSpPr>
          <p:cNvPr id="11" name="TextBox 10">
            <a:extLst>
              <a:ext uri="{FF2B5EF4-FFF2-40B4-BE49-F238E27FC236}">
                <a16:creationId xmlns:a16="http://schemas.microsoft.com/office/drawing/2014/main" id="{31153A89-9CFD-CF1D-4674-E8515BCD4C99}"/>
              </a:ext>
            </a:extLst>
          </p:cNvPr>
          <p:cNvSpPr txBox="1"/>
          <p:nvPr/>
        </p:nvSpPr>
        <p:spPr>
          <a:xfrm>
            <a:off x="584200" y="4381500"/>
            <a:ext cx="3378200" cy="1082348"/>
          </a:xfrm>
          <a:prstGeom prst="rect">
            <a:avLst/>
          </a:prstGeom>
          <a:noFill/>
        </p:spPr>
        <p:txBody>
          <a:bodyPr vert="horz" wrap="square" lIns="0" tIns="0" rIns="0" bIns="0" rtlCol="0">
            <a:spAutoFit/>
          </a:bodyPr>
          <a:lstStyle/>
          <a:p>
            <a:pPr>
              <a:spcAft>
                <a:spcPts val="800"/>
              </a:spcAft>
            </a:pPr>
            <a:r>
              <a:rPr lang="en-US" sz="1900">
                <a:solidFill>
                  <a:srgbClr val="B2BDC3"/>
                </a:solidFill>
                <a:latin typeface="Arial" panose="020B0604020202020204" pitchFamily="34" charset="0"/>
              </a:rPr>
              <a:t>Patient, staff and admin views
Human chat and visit history</a:t>
            </a:r>
            <a:endParaRPr lang="en-GB" sz="1900">
              <a:solidFill>
                <a:srgbClr val="B2BDC3"/>
              </a:solidFill>
              <a:latin typeface="Arial" panose="020B0604020202020204" pitchFamily="34" charset="0"/>
            </a:endParaRPr>
          </a:p>
        </p:txBody>
      </p:sp>
      <p:pic>
        <p:nvPicPr>
          <p:cNvPr id="13" name="Picture 12">
            <a:extLst>
              <a:ext uri="{FF2B5EF4-FFF2-40B4-BE49-F238E27FC236}">
                <a16:creationId xmlns:a16="http://schemas.microsoft.com/office/drawing/2014/main" id="{74116896-B008-A939-265D-CBF4049322D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308600" y="2209800"/>
            <a:ext cx="6299200" cy="3937000"/>
          </a:xfrm>
          <a:prstGeom prst="rect">
            <a:avLst/>
          </a:prstGeom>
        </p:spPr>
      </p:pic>
    </p:spTree>
    <p:extLst>
      <p:ext uri="{BB962C8B-B14F-4D97-AF65-F5344CB8AC3E}">
        <p14:creationId xmlns:p14="http://schemas.microsoft.com/office/powerpoint/2010/main" val="3660603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41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107142-29E0-81CD-CD8B-1C75D54FFB3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84200" y="368300"/>
            <a:ext cx="368300" cy="368300"/>
          </a:xfrm>
          <a:prstGeom prst="rect">
            <a:avLst/>
          </a:prstGeom>
        </p:spPr>
      </p:pic>
      <p:sp>
        <p:nvSpPr>
          <p:cNvPr id="4" name="TextBox 3">
            <a:extLst>
              <a:ext uri="{FF2B5EF4-FFF2-40B4-BE49-F238E27FC236}">
                <a16:creationId xmlns:a16="http://schemas.microsoft.com/office/drawing/2014/main" id="{49A32909-D650-5C3E-F020-9FC454C34970}"/>
              </a:ext>
            </a:extLst>
          </p:cNvPr>
          <p:cNvSpPr txBox="1"/>
          <p:nvPr/>
        </p:nvSpPr>
        <p:spPr>
          <a:xfrm>
            <a:off x="1066800" y="355600"/>
            <a:ext cx="1397000" cy="353943"/>
          </a:xfrm>
          <a:prstGeom prst="rect">
            <a:avLst/>
          </a:prstGeom>
          <a:noFill/>
        </p:spPr>
        <p:txBody>
          <a:bodyPr vert="horz" wrap="square" lIns="0" tIns="0" rIns="0" bIns="0" rtlCol="0">
            <a:spAutoFit/>
          </a:bodyPr>
          <a:lstStyle/>
          <a:p>
            <a:pPr>
              <a:spcAft>
                <a:spcPts val="800"/>
              </a:spcAft>
            </a:pPr>
            <a:r>
              <a:rPr lang="en-GB" sz="2300" b="1">
                <a:solidFill>
                  <a:srgbClr val="F1F3F4"/>
                </a:solidFill>
                <a:latin typeface="Arial" panose="020B0604020202020204" pitchFamily="34" charset="0"/>
              </a:rPr>
              <a:t>pulse.</a:t>
            </a:r>
          </a:p>
        </p:txBody>
      </p:sp>
      <p:sp>
        <p:nvSpPr>
          <p:cNvPr id="5" name="TextBox 4">
            <a:extLst>
              <a:ext uri="{FF2B5EF4-FFF2-40B4-BE49-F238E27FC236}">
                <a16:creationId xmlns:a16="http://schemas.microsoft.com/office/drawing/2014/main" id="{19F55D4E-A1F5-BC03-DC15-FAD4C6616DC8}"/>
              </a:ext>
            </a:extLst>
          </p:cNvPr>
          <p:cNvSpPr txBox="1"/>
          <p:nvPr/>
        </p:nvSpPr>
        <p:spPr>
          <a:xfrm>
            <a:off x="7747000" y="457200"/>
            <a:ext cx="3810000" cy="169277"/>
          </a:xfrm>
          <a:prstGeom prst="rect">
            <a:avLst/>
          </a:prstGeom>
          <a:noFill/>
        </p:spPr>
        <p:txBody>
          <a:bodyPr vert="horz" wrap="square" lIns="0" tIns="0" rIns="0" bIns="0" rtlCol="0">
            <a:spAutoFit/>
          </a:bodyPr>
          <a:lstStyle/>
          <a:p>
            <a:pPr>
              <a:spcAft>
                <a:spcPts val="800"/>
              </a:spcAft>
            </a:pPr>
            <a:r>
              <a:rPr lang="en-GB" sz="1100">
                <a:solidFill>
                  <a:srgbClr val="B2BDC3"/>
                </a:solidFill>
                <a:latin typeface="Arial" panose="020B0604020202020204" pitchFamily="34" charset="0"/>
              </a:rPr>
              <a:t>THE SYSTEM</a:t>
            </a:r>
          </a:p>
        </p:txBody>
      </p:sp>
      <p:sp>
        <p:nvSpPr>
          <p:cNvPr id="6" name="Rectangle 5">
            <a:extLst>
              <a:ext uri="{FF2B5EF4-FFF2-40B4-BE49-F238E27FC236}">
                <a16:creationId xmlns:a16="http://schemas.microsoft.com/office/drawing/2014/main" id="{2400F05F-6C9E-1C0B-F928-ABEAB435D664}"/>
              </a:ext>
            </a:extLst>
          </p:cNvPr>
          <p:cNvSpPr/>
          <p:nvPr/>
        </p:nvSpPr>
        <p:spPr>
          <a:xfrm>
            <a:off x="584200" y="6235700"/>
            <a:ext cx="11023600" cy="12700"/>
          </a:xfrm>
          <a:prstGeom prst="rect">
            <a:avLst/>
          </a:prstGeom>
          <a:solidFill>
            <a:srgbClr val="3844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33C3518A-9045-0DAD-0991-B2F37BA3A39B}"/>
              </a:ext>
            </a:extLst>
          </p:cNvPr>
          <p:cNvSpPr txBox="1"/>
          <p:nvPr/>
        </p:nvSpPr>
        <p:spPr>
          <a:xfrm>
            <a:off x="584200" y="6438900"/>
            <a:ext cx="8763000" cy="138499"/>
          </a:xfrm>
          <a:prstGeom prst="rect">
            <a:avLst/>
          </a:prstGeom>
          <a:noFill/>
        </p:spPr>
        <p:txBody>
          <a:bodyPr vert="horz" wrap="square" lIns="0" tIns="0" rIns="0" bIns="0" rtlCol="0">
            <a:spAutoFit/>
          </a:bodyPr>
          <a:lstStyle/>
          <a:p>
            <a:pPr>
              <a:spcAft>
                <a:spcPts val="800"/>
              </a:spcAft>
            </a:pPr>
            <a:r>
              <a:rPr lang="en-GB" sz="900">
                <a:solidFill>
                  <a:srgbClr val="B2BDC3"/>
                </a:solidFill>
                <a:latin typeface="Arial" panose="020B0604020202020204" pitchFamily="34" charset="0"/>
              </a:rPr>
              <a:t>PULSE / HEALTHCARE HACKATHON PROTOTYPE</a:t>
            </a:r>
          </a:p>
        </p:txBody>
      </p:sp>
      <p:sp>
        <p:nvSpPr>
          <p:cNvPr id="8" name="TextBox 7">
            <a:extLst>
              <a:ext uri="{FF2B5EF4-FFF2-40B4-BE49-F238E27FC236}">
                <a16:creationId xmlns:a16="http://schemas.microsoft.com/office/drawing/2014/main" id="{7D3E81BF-F985-05E7-1314-7FDB08F8AB1E}"/>
              </a:ext>
            </a:extLst>
          </p:cNvPr>
          <p:cNvSpPr txBox="1"/>
          <p:nvPr/>
        </p:nvSpPr>
        <p:spPr>
          <a:xfrm>
            <a:off x="11163300" y="6400800"/>
            <a:ext cx="444500" cy="184666"/>
          </a:xfrm>
          <a:prstGeom prst="rect">
            <a:avLst/>
          </a:prstGeom>
          <a:noFill/>
        </p:spPr>
        <p:txBody>
          <a:bodyPr vert="horz" wrap="square" lIns="0" tIns="0" rIns="0" bIns="0" rtlCol="0">
            <a:spAutoFit/>
          </a:bodyPr>
          <a:lstStyle/>
          <a:p>
            <a:pPr>
              <a:spcAft>
                <a:spcPts val="800"/>
              </a:spcAft>
            </a:pPr>
            <a:r>
              <a:rPr lang="en-GB" sz="1200" b="1">
                <a:solidFill>
                  <a:srgbClr val="F16B6B"/>
                </a:solidFill>
                <a:latin typeface="Arial" panose="020B0604020202020204" pitchFamily="34" charset="0"/>
              </a:rPr>
              <a:t>05</a:t>
            </a:r>
          </a:p>
        </p:txBody>
      </p:sp>
      <p:sp>
        <p:nvSpPr>
          <p:cNvPr id="9" name="TextBox 8">
            <a:extLst>
              <a:ext uri="{FF2B5EF4-FFF2-40B4-BE49-F238E27FC236}">
                <a16:creationId xmlns:a16="http://schemas.microsoft.com/office/drawing/2014/main" id="{66D01E2B-9F22-C924-029D-930BCDA07394}"/>
              </a:ext>
            </a:extLst>
          </p:cNvPr>
          <p:cNvSpPr txBox="1"/>
          <p:nvPr/>
        </p:nvSpPr>
        <p:spPr>
          <a:xfrm>
            <a:off x="584200" y="1244600"/>
            <a:ext cx="11023600" cy="553998"/>
          </a:xfrm>
          <a:prstGeom prst="rect">
            <a:avLst/>
          </a:prstGeom>
          <a:noFill/>
        </p:spPr>
        <p:txBody>
          <a:bodyPr vert="horz" wrap="square" lIns="0" tIns="0" rIns="0" bIns="0" rtlCol="0">
            <a:spAutoFit/>
          </a:bodyPr>
          <a:lstStyle/>
          <a:p>
            <a:pPr>
              <a:spcAft>
                <a:spcPts val="800"/>
              </a:spcAft>
            </a:pPr>
            <a:r>
              <a:rPr lang="en-GB" sz="3600" b="1">
                <a:solidFill>
                  <a:srgbClr val="F1F3F4"/>
                </a:solidFill>
                <a:latin typeface="Arial" panose="020B0604020202020204" pitchFamily="34" charset="0"/>
              </a:rPr>
              <a:t>How the parts connect</a:t>
            </a:r>
          </a:p>
        </p:txBody>
      </p:sp>
      <p:sp>
        <p:nvSpPr>
          <p:cNvPr id="10" name="TextBox 9">
            <a:extLst>
              <a:ext uri="{FF2B5EF4-FFF2-40B4-BE49-F238E27FC236}">
                <a16:creationId xmlns:a16="http://schemas.microsoft.com/office/drawing/2014/main" id="{5E2EFC33-53C7-2232-66C4-30BCC5E71171}"/>
              </a:ext>
            </a:extLst>
          </p:cNvPr>
          <p:cNvSpPr txBox="1"/>
          <p:nvPr/>
        </p:nvSpPr>
        <p:spPr>
          <a:xfrm>
            <a:off x="584200" y="2616200"/>
            <a:ext cx="2095500" cy="492443"/>
          </a:xfrm>
          <a:prstGeom prst="rect">
            <a:avLst/>
          </a:prstGeom>
          <a:noFill/>
        </p:spPr>
        <p:txBody>
          <a:bodyPr vert="horz" wrap="square" lIns="0" tIns="0" rIns="0" bIns="0" rtlCol="0">
            <a:spAutoFit/>
          </a:bodyPr>
          <a:lstStyle/>
          <a:p>
            <a:pPr>
              <a:spcAft>
                <a:spcPts val="800"/>
              </a:spcAft>
            </a:pPr>
            <a:r>
              <a:rPr lang="en-GB" sz="3200" b="1">
                <a:solidFill>
                  <a:srgbClr val="F16B6B"/>
                </a:solidFill>
                <a:latin typeface="Arial" panose="020B0604020202020204" pitchFamily="34" charset="0"/>
              </a:rPr>
              <a:t>01</a:t>
            </a:r>
          </a:p>
        </p:txBody>
      </p:sp>
      <p:sp>
        <p:nvSpPr>
          <p:cNvPr id="11" name="TextBox 10">
            <a:extLst>
              <a:ext uri="{FF2B5EF4-FFF2-40B4-BE49-F238E27FC236}">
                <a16:creationId xmlns:a16="http://schemas.microsoft.com/office/drawing/2014/main" id="{842707C1-0C0A-FF98-CE68-A23C30690F87}"/>
              </a:ext>
            </a:extLst>
          </p:cNvPr>
          <p:cNvSpPr txBox="1"/>
          <p:nvPr/>
        </p:nvSpPr>
        <p:spPr>
          <a:xfrm>
            <a:off x="584200" y="3365500"/>
            <a:ext cx="2540000" cy="369332"/>
          </a:xfrm>
          <a:prstGeom prst="rect">
            <a:avLst/>
          </a:prstGeom>
          <a:noFill/>
        </p:spPr>
        <p:txBody>
          <a:bodyPr vert="horz" wrap="square" lIns="0" tIns="0" rIns="0" bIns="0" rtlCol="0">
            <a:spAutoFit/>
          </a:bodyPr>
          <a:lstStyle/>
          <a:p>
            <a:pPr>
              <a:spcAft>
                <a:spcPts val="800"/>
              </a:spcAft>
            </a:pPr>
            <a:r>
              <a:rPr lang="en-GB" sz="2400" b="1">
                <a:solidFill>
                  <a:srgbClr val="F1F3F4"/>
                </a:solidFill>
                <a:latin typeface="Arial" panose="020B0604020202020204" pitchFamily="34" charset="0"/>
              </a:rPr>
              <a:t>Wristband</a:t>
            </a:r>
          </a:p>
        </p:txBody>
      </p:sp>
      <p:sp>
        <p:nvSpPr>
          <p:cNvPr id="12" name="TextBox 11">
            <a:extLst>
              <a:ext uri="{FF2B5EF4-FFF2-40B4-BE49-F238E27FC236}">
                <a16:creationId xmlns:a16="http://schemas.microsoft.com/office/drawing/2014/main" id="{D8F2723D-FEAF-2339-BE97-E12E9BA89FE7}"/>
              </a:ext>
            </a:extLst>
          </p:cNvPr>
          <p:cNvSpPr txBox="1"/>
          <p:nvPr/>
        </p:nvSpPr>
        <p:spPr>
          <a:xfrm>
            <a:off x="584200" y="4089400"/>
            <a:ext cx="2413000" cy="307777"/>
          </a:xfrm>
          <a:prstGeom prst="rect">
            <a:avLst/>
          </a:prstGeom>
          <a:noFill/>
        </p:spPr>
        <p:txBody>
          <a:bodyPr vert="horz" wrap="square" lIns="0" tIns="0" rIns="0" bIns="0" rtlCol="0">
            <a:spAutoFit/>
          </a:bodyPr>
          <a:lstStyle/>
          <a:p>
            <a:pPr>
              <a:spcAft>
                <a:spcPts val="800"/>
              </a:spcAft>
            </a:pPr>
            <a:r>
              <a:rPr lang="en-GB" sz="2000">
                <a:solidFill>
                  <a:srgbClr val="B2BDC3"/>
                </a:solidFill>
                <a:latin typeface="Arial" panose="020B0604020202020204" pitchFamily="34" charset="0"/>
              </a:rPr>
              <a:t>Sensor readings</a:t>
            </a:r>
          </a:p>
        </p:txBody>
      </p:sp>
      <p:sp>
        <p:nvSpPr>
          <p:cNvPr id="13" name="TextBox 12">
            <a:extLst>
              <a:ext uri="{FF2B5EF4-FFF2-40B4-BE49-F238E27FC236}">
                <a16:creationId xmlns:a16="http://schemas.microsoft.com/office/drawing/2014/main" id="{82F7B175-88A0-B7F5-B30D-12E821A639F3}"/>
              </a:ext>
            </a:extLst>
          </p:cNvPr>
          <p:cNvSpPr txBox="1"/>
          <p:nvPr/>
        </p:nvSpPr>
        <p:spPr>
          <a:xfrm>
            <a:off x="3378200" y="2616200"/>
            <a:ext cx="2095500" cy="492443"/>
          </a:xfrm>
          <a:prstGeom prst="rect">
            <a:avLst/>
          </a:prstGeom>
          <a:noFill/>
        </p:spPr>
        <p:txBody>
          <a:bodyPr vert="horz" wrap="square" lIns="0" tIns="0" rIns="0" bIns="0" rtlCol="0">
            <a:spAutoFit/>
          </a:bodyPr>
          <a:lstStyle/>
          <a:p>
            <a:pPr>
              <a:spcAft>
                <a:spcPts val="800"/>
              </a:spcAft>
            </a:pPr>
            <a:r>
              <a:rPr lang="en-GB" sz="3200" b="1">
                <a:solidFill>
                  <a:srgbClr val="F16B6B"/>
                </a:solidFill>
                <a:latin typeface="Arial" panose="020B0604020202020204" pitchFamily="34" charset="0"/>
              </a:rPr>
              <a:t>02</a:t>
            </a:r>
          </a:p>
        </p:txBody>
      </p:sp>
      <p:sp>
        <p:nvSpPr>
          <p:cNvPr id="14" name="TextBox 13">
            <a:extLst>
              <a:ext uri="{FF2B5EF4-FFF2-40B4-BE49-F238E27FC236}">
                <a16:creationId xmlns:a16="http://schemas.microsoft.com/office/drawing/2014/main" id="{08C7A8FF-C101-4C32-A653-8990573D0EA1}"/>
              </a:ext>
            </a:extLst>
          </p:cNvPr>
          <p:cNvSpPr txBox="1"/>
          <p:nvPr/>
        </p:nvSpPr>
        <p:spPr>
          <a:xfrm>
            <a:off x="3378200" y="3365500"/>
            <a:ext cx="2540000" cy="369332"/>
          </a:xfrm>
          <a:prstGeom prst="rect">
            <a:avLst/>
          </a:prstGeom>
          <a:noFill/>
        </p:spPr>
        <p:txBody>
          <a:bodyPr vert="horz" wrap="square" lIns="0" tIns="0" rIns="0" bIns="0" rtlCol="0">
            <a:spAutoFit/>
          </a:bodyPr>
          <a:lstStyle/>
          <a:p>
            <a:pPr>
              <a:spcAft>
                <a:spcPts val="800"/>
              </a:spcAft>
            </a:pPr>
            <a:r>
              <a:rPr lang="en-GB" sz="2400" b="1">
                <a:solidFill>
                  <a:srgbClr val="F1F3F4"/>
                </a:solidFill>
                <a:latin typeface="Arial" panose="020B0604020202020204" pitchFamily="34" charset="0"/>
              </a:rPr>
              <a:t>Oracle</a:t>
            </a:r>
          </a:p>
        </p:txBody>
      </p:sp>
      <p:sp>
        <p:nvSpPr>
          <p:cNvPr id="15" name="TextBox 14">
            <a:extLst>
              <a:ext uri="{FF2B5EF4-FFF2-40B4-BE49-F238E27FC236}">
                <a16:creationId xmlns:a16="http://schemas.microsoft.com/office/drawing/2014/main" id="{71F85144-B2DE-1DC5-4A3C-EFF8D915474E}"/>
              </a:ext>
            </a:extLst>
          </p:cNvPr>
          <p:cNvSpPr txBox="1"/>
          <p:nvPr/>
        </p:nvSpPr>
        <p:spPr>
          <a:xfrm>
            <a:off x="3378200" y="4089400"/>
            <a:ext cx="2413000" cy="615553"/>
          </a:xfrm>
          <a:prstGeom prst="rect">
            <a:avLst/>
          </a:prstGeom>
          <a:noFill/>
        </p:spPr>
        <p:txBody>
          <a:bodyPr vert="horz" wrap="square" lIns="0" tIns="0" rIns="0" bIns="0" rtlCol="0">
            <a:spAutoFit/>
          </a:bodyPr>
          <a:lstStyle/>
          <a:p>
            <a:pPr>
              <a:spcAft>
                <a:spcPts val="800"/>
              </a:spcAft>
            </a:pPr>
            <a:r>
              <a:rPr lang="en-GB" sz="2000">
                <a:solidFill>
                  <a:srgbClr val="B2BDC3"/>
                </a:solidFill>
                <a:latin typeface="Arial" panose="020B0604020202020204" pitchFamily="34" charset="0"/>
              </a:rPr>
              <a:t>Stored measurements</a:t>
            </a:r>
          </a:p>
        </p:txBody>
      </p:sp>
      <p:sp>
        <p:nvSpPr>
          <p:cNvPr id="16" name="TextBox 15">
            <a:extLst>
              <a:ext uri="{FF2B5EF4-FFF2-40B4-BE49-F238E27FC236}">
                <a16:creationId xmlns:a16="http://schemas.microsoft.com/office/drawing/2014/main" id="{54666C1B-3CEA-2BE3-89A1-E5B511251FD1}"/>
              </a:ext>
            </a:extLst>
          </p:cNvPr>
          <p:cNvSpPr txBox="1"/>
          <p:nvPr/>
        </p:nvSpPr>
        <p:spPr>
          <a:xfrm>
            <a:off x="6172200" y="2616200"/>
            <a:ext cx="2095500" cy="492443"/>
          </a:xfrm>
          <a:prstGeom prst="rect">
            <a:avLst/>
          </a:prstGeom>
          <a:noFill/>
        </p:spPr>
        <p:txBody>
          <a:bodyPr vert="horz" wrap="square" lIns="0" tIns="0" rIns="0" bIns="0" rtlCol="0">
            <a:spAutoFit/>
          </a:bodyPr>
          <a:lstStyle/>
          <a:p>
            <a:pPr>
              <a:spcAft>
                <a:spcPts val="800"/>
              </a:spcAft>
            </a:pPr>
            <a:r>
              <a:rPr lang="en-GB" sz="3200" b="1">
                <a:solidFill>
                  <a:srgbClr val="F16B6B"/>
                </a:solidFill>
                <a:latin typeface="Arial" panose="020B0604020202020204" pitchFamily="34" charset="0"/>
              </a:rPr>
              <a:t>03</a:t>
            </a:r>
          </a:p>
        </p:txBody>
      </p:sp>
      <p:sp>
        <p:nvSpPr>
          <p:cNvPr id="17" name="TextBox 16">
            <a:extLst>
              <a:ext uri="{FF2B5EF4-FFF2-40B4-BE49-F238E27FC236}">
                <a16:creationId xmlns:a16="http://schemas.microsoft.com/office/drawing/2014/main" id="{78F03962-E24A-7E74-0895-1BB8AD8C408D}"/>
              </a:ext>
            </a:extLst>
          </p:cNvPr>
          <p:cNvSpPr txBox="1"/>
          <p:nvPr/>
        </p:nvSpPr>
        <p:spPr>
          <a:xfrm>
            <a:off x="6172200" y="3365500"/>
            <a:ext cx="2540000" cy="369332"/>
          </a:xfrm>
          <a:prstGeom prst="rect">
            <a:avLst/>
          </a:prstGeom>
          <a:noFill/>
        </p:spPr>
        <p:txBody>
          <a:bodyPr vert="horz" wrap="square" lIns="0" tIns="0" rIns="0" bIns="0" rtlCol="0">
            <a:spAutoFit/>
          </a:bodyPr>
          <a:lstStyle/>
          <a:p>
            <a:pPr>
              <a:spcAft>
                <a:spcPts val="800"/>
              </a:spcAft>
            </a:pPr>
            <a:r>
              <a:rPr lang="en-GB" sz="2400" b="1">
                <a:solidFill>
                  <a:srgbClr val="F1F3F4"/>
                </a:solidFill>
                <a:latin typeface="Arial" panose="020B0604020202020204" pitchFamily="34" charset="0"/>
              </a:rPr>
              <a:t>Python Flask</a:t>
            </a:r>
          </a:p>
        </p:txBody>
      </p:sp>
      <p:sp>
        <p:nvSpPr>
          <p:cNvPr id="18" name="TextBox 17">
            <a:extLst>
              <a:ext uri="{FF2B5EF4-FFF2-40B4-BE49-F238E27FC236}">
                <a16:creationId xmlns:a16="http://schemas.microsoft.com/office/drawing/2014/main" id="{26E12A9C-6ABA-7875-6AA7-2FD9D20B06E7}"/>
              </a:ext>
            </a:extLst>
          </p:cNvPr>
          <p:cNvSpPr txBox="1"/>
          <p:nvPr/>
        </p:nvSpPr>
        <p:spPr>
          <a:xfrm>
            <a:off x="6172200" y="4089400"/>
            <a:ext cx="2413000" cy="615553"/>
          </a:xfrm>
          <a:prstGeom prst="rect">
            <a:avLst/>
          </a:prstGeom>
          <a:noFill/>
        </p:spPr>
        <p:txBody>
          <a:bodyPr vert="horz" wrap="square" lIns="0" tIns="0" rIns="0" bIns="0" rtlCol="0">
            <a:spAutoFit/>
          </a:bodyPr>
          <a:lstStyle/>
          <a:p>
            <a:pPr>
              <a:spcAft>
                <a:spcPts val="800"/>
              </a:spcAft>
            </a:pPr>
            <a:r>
              <a:rPr lang="en-GB" sz="2000">
                <a:solidFill>
                  <a:srgbClr val="B2BDC3"/>
                </a:solidFill>
                <a:latin typeface="Arial" panose="020B0604020202020204" pitchFamily="34" charset="0"/>
              </a:rPr>
              <a:t>Protected data requests</a:t>
            </a:r>
          </a:p>
        </p:txBody>
      </p:sp>
      <p:sp>
        <p:nvSpPr>
          <p:cNvPr id="19" name="TextBox 18">
            <a:extLst>
              <a:ext uri="{FF2B5EF4-FFF2-40B4-BE49-F238E27FC236}">
                <a16:creationId xmlns:a16="http://schemas.microsoft.com/office/drawing/2014/main" id="{84CE521D-9ACE-676B-A071-359CEDBEAAF5}"/>
              </a:ext>
            </a:extLst>
          </p:cNvPr>
          <p:cNvSpPr txBox="1"/>
          <p:nvPr/>
        </p:nvSpPr>
        <p:spPr>
          <a:xfrm>
            <a:off x="8966200" y="2616200"/>
            <a:ext cx="2095500" cy="492443"/>
          </a:xfrm>
          <a:prstGeom prst="rect">
            <a:avLst/>
          </a:prstGeom>
          <a:noFill/>
        </p:spPr>
        <p:txBody>
          <a:bodyPr vert="horz" wrap="square" lIns="0" tIns="0" rIns="0" bIns="0" rtlCol="0">
            <a:spAutoFit/>
          </a:bodyPr>
          <a:lstStyle/>
          <a:p>
            <a:pPr>
              <a:spcAft>
                <a:spcPts val="800"/>
              </a:spcAft>
            </a:pPr>
            <a:r>
              <a:rPr lang="en-GB" sz="3200" b="1">
                <a:solidFill>
                  <a:srgbClr val="F16B6B"/>
                </a:solidFill>
                <a:latin typeface="Arial" panose="020B0604020202020204" pitchFamily="34" charset="0"/>
              </a:rPr>
              <a:t>04</a:t>
            </a:r>
          </a:p>
        </p:txBody>
      </p:sp>
      <p:sp>
        <p:nvSpPr>
          <p:cNvPr id="20" name="TextBox 19">
            <a:extLst>
              <a:ext uri="{FF2B5EF4-FFF2-40B4-BE49-F238E27FC236}">
                <a16:creationId xmlns:a16="http://schemas.microsoft.com/office/drawing/2014/main" id="{A0A61100-C3C0-FE19-77D5-88D0108C6EF6}"/>
              </a:ext>
            </a:extLst>
          </p:cNvPr>
          <p:cNvSpPr txBox="1"/>
          <p:nvPr/>
        </p:nvSpPr>
        <p:spPr>
          <a:xfrm>
            <a:off x="8966200" y="3365500"/>
            <a:ext cx="2540000" cy="369332"/>
          </a:xfrm>
          <a:prstGeom prst="rect">
            <a:avLst/>
          </a:prstGeom>
          <a:noFill/>
        </p:spPr>
        <p:txBody>
          <a:bodyPr vert="horz" wrap="square" lIns="0" tIns="0" rIns="0" bIns="0" rtlCol="0">
            <a:spAutoFit/>
          </a:bodyPr>
          <a:lstStyle/>
          <a:p>
            <a:pPr>
              <a:spcAft>
                <a:spcPts val="800"/>
              </a:spcAft>
            </a:pPr>
            <a:r>
              <a:rPr lang="en-GB" sz="2400" b="1">
                <a:solidFill>
                  <a:srgbClr val="F1F3F4"/>
                </a:solidFill>
                <a:latin typeface="Arial" panose="020B0604020202020204" pitchFamily="34" charset="0"/>
              </a:rPr>
              <a:t>Website</a:t>
            </a:r>
          </a:p>
        </p:txBody>
      </p:sp>
      <p:sp>
        <p:nvSpPr>
          <p:cNvPr id="21" name="TextBox 20">
            <a:extLst>
              <a:ext uri="{FF2B5EF4-FFF2-40B4-BE49-F238E27FC236}">
                <a16:creationId xmlns:a16="http://schemas.microsoft.com/office/drawing/2014/main" id="{7CCD3B42-2DC4-CCE2-2DA7-1F16D297BF02}"/>
              </a:ext>
            </a:extLst>
          </p:cNvPr>
          <p:cNvSpPr txBox="1"/>
          <p:nvPr/>
        </p:nvSpPr>
        <p:spPr>
          <a:xfrm>
            <a:off x="8966200" y="4089400"/>
            <a:ext cx="2413000" cy="615553"/>
          </a:xfrm>
          <a:prstGeom prst="rect">
            <a:avLst/>
          </a:prstGeom>
          <a:noFill/>
        </p:spPr>
        <p:txBody>
          <a:bodyPr vert="horz" wrap="square" lIns="0" tIns="0" rIns="0" bIns="0" rtlCol="0">
            <a:spAutoFit/>
          </a:bodyPr>
          <a:lstStyle/>
          <a:p>
            <a:pPr>
              <a:spcAft>
                <a:spcPts val="800"/>
              </a:spcAft>
            </a:pPr>
            <a:r>
              <a:rPr lang="en-GB" sz="2000">
                <a:solidFill>
                  <a:srgbClr val="B2BDC3"/>
                </a:solidFill>
                <a:latin typeface="Arial" panose="020B0604020202020204" pitchFamily="34" charset="0"/>
              </a:rPr>
              <a:t>Patient and staff views</a:t>
            </a:r>
          </a:p>
        </p:txBody>
      </p:sp>
      <p:sp>
        <p:nvSpPr>
          <p:cNvPr id="22" name="TextBox 21">
            <a:extLst>
              <a:ext uri="{FF2B5EF4-FFF2-40B4-BE49-F238E27FC236}">
                <a16:creationId xmlns:a16="http://schemas.microsoft.com/office/drawing/2014/main" id="{D2B2E09C-23DC-1468-C778-45D2ADCE22FF}"/>
              </a:ext>
            </a:extLst>
          </p:cNvPr>
          <p:cNvSpPr txBox="1"/>
          <p:nvPr/>
        </p:nvSpPr>
        <p:spPr>
          <a:xfrm>
            <a:off x="584200" y="5486400"/>
            <a:ext cx="11023600" cy="276999"/>
          </a:xfrm>
          <a:prstGeom prst="rect">
            <a:avLst/>
          </a:prstGeom>
          <a:noFill/>
        </p:spPr>
        <p:txBody>
          <a:bodyPr vert="horz" wrap="square" lIns="0" tIns="0" rIns="0" bIns="0" rtlCol="0">
            <a:spAutoFit/>
          </a:bodyPr>
          <a:lstStyle/>
          <a:p>
            <a:pPr>
              <a:spcAft>
                <a:spcPts val="800"/>
              </a:spcAft>
            </a:pPr>
            <a:r>
              <a:rPr lang="en-US">
                <a:solidFill>
                  <a:srgbClr val="B2BDC3"/>
                </a:solidFill>
                <a:latin typeface="Arial" panose="020B0604020202020204" pitchFamily="34" charset="0"/>
              </a:rPr>
              <a:t>AI: [add the agreed model input, output and current connection status]</a:t>
            </a:r>
            <a:endParaRPr lang="en-GB">
              <a:solidFill>
                <a:srgbClr val="B2BDC3"/>
              </a:solidFill>
              <a:latin typeface="Arial" panose="020B0604020202020204" pitchFamily="34" charset="0"/>
            </a:endParaRPr>
          </a:p>
        </p:txBody>
      </p:sp>
    </p:spTree>
    <p:extLst>
      <p:ext uri="{BB962C8B-B14F-4D97-AF65-F5344CB8AC3E}">
        <p14:creationId xmlns:p14="http://schemas.microsoft.com/office/powerpoint/2010/main" val="1932537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141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655BD7-B7F9-8CC6-CB0E-5C6E6081850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84200" y="368300"/>
            <a:ext cx="368300" cy="368300"/>
          </a:xfrm>
          <a:prstGeom prst="rect">
            <a:avLst/>
          </a:prstGeom>
        </p:spPr>
      </p:pic>
      <p:sp>
        <p:nvSpPr>
          <p:cNvPr id="4" name="TextBox 3">
            <a:extLst>
              <a:ext uri="{FF2B5EF4-FFF2-40B4-BE49-F238E27FC236}">
                <a16:creationId xmlns:a16="http://schemas.microsoft.com/office/drawing/2014/main" id="{E0F9758D-E324-0466-63EF-EB349807C136}"/>
              </a:ext>
            </a:extLst>
          </p:cNvPr>
          <p:cNvSpPr txBox="1"/>
          <p:nvPr/>
        </p:nvSpPr>
        <p:spPr>
          <a:xfrm>
            <a:off x="1066800" y="355600"/>
            <a:ext cx="1397000" cy="353943"/>
          </a:xfrm>
          <a:prstGeom prst="rect">
            <a:avLst/>
          </a:prstGeom>
          <a:noFill/>
        </p:spPr>
        <p:txBody>
          <a:bodyPr vert="horz" wrap="square" lIns="0" tIns="0" rIns="0" bIns="0" rtlCol="0">
            <a:spAutoFit/>
          </a:bodyPr>
          <a:lstStyle/>
          <a:p>
            <a:pPr>
              <a:spcAft>
                <a:spcPts val="800"/>
              </a:spcAft>
            </a:pPr>
            <a:r>
              <a:rPr lang="en-GB" sz="2300" b="1">
                <a:solidFill>
                  <a:srgbClr val="F1F3F4"/>
                </a:solidFill>
                <a:latin typeface="Arial" panose="020B0604020202020204" pitchFamily="34" charset="0"/>
              </a:rPr>
              <a:t>pulse.</a:t>
            </a:r>
          </a:p>
        </p:txBody>
      </p:sp>
      <p:sp>
        <p:nvSpPr>
          <p:cNvPr id="5" name="TextBox 4">
            <a:extLst>
              <a:ext uri="{FF2B5EF4-FFF2-40B4-BE49-F238E27FC236}">
                <a16:creationId xmlns:a16="http://schemas.microsoft.com/office/drawing/2014/main" id="{F36B730C-5E3F-8EE8-DCEF-954EFA839D2A}"/>
              </a:ext>
            </a:extLst>
          </p:cNvPr>
          <p:cNvSpPr txBox="1"/>
          <p:nvPr/>
        </p:nvSpPr>
        <p:spPr>
          <a:xfrm>
            <a:off x="7747000" y="457200"/>
            <a:ext cx="3810000" cy="169277"/>
          </a:xfrm>
          <a:prstGeom prst="rect">
            <a:avLst/>
          </a:prstGeom>
          <a:noFill/>
        </p:spPr>
        <p:txBody>
          <a:bodyPr vert="horz" wrap="square" lIns="0" tIns="0" rIns="0" bIns="0" rtlCol="0">
            <a:spAutoFit/>
          </a:bodyPr>
          <a:lstStyle/>
          <a:p>
            <a:pPr>
              <a:spcAft>
                <a:spcPts val="800"/>
              </a:spcAft>
            </a:pPr>
            <a:r>
              <a:rPr lang="en-GB" sz="1100">
                <a:solidFill>
                  <a:srgbClr val="B2BDC3"/>
                </a:solidFill>
                <a:latin typeface="Arial" panose="020B0604020202020204" pitchFamily="34" charset="0"/>
              </a:rPr>
              <a:t>CURRENT STATUS</a:t>
            </a:r>
          </a:p>
        </p:txBody>
      </p:sp>
      <p:sp>
        <p:nvSpPr>
          <p:cNvPr id="6" name="Rectangle 5">
            <a:extLst>
              <a:ext uri="{FF2B5EF4-FFF2-40B4-BE49-F238E27FC236}">
                <a16:creationId xmlns:a16="http://schemas.microsoft.com/office/drawing/2014/main" id="{C707249F-D68B-1124-2865-EEF6C5F180B4}"/>
              </a:ext>
            </a:extLst>
          </p:cNvPr>
          <p:cNvSpPr/>
          <p:nvPr/>
        </p:nvSpPr>
        <p:spPr>
          <a:xfrm>
            <a:off x="584200" y="6235700"/>
            <a:ext cx="11023600" cy="12700"/>
          </a:xfrm>
          <a:prstGeom prst="rect">
            <a:avLst/>
          </a:prstGeom>
          <a:solidFill>
            <a:srgbClr val="3844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0447A103-F60C-FA05-744A-7CB01BFFA412}"/>
              </a:ext>
            </a:extLst>
          </p:cNvPr>
          <p:cNvSpPr txBox="1"/>
          <p:nvPr/>
        </p:nvSpPr>
        <p:spPr>
          <a:xfrm>
            <a:off x="584200" y="6438900"/>
            <a:ext cx="8763000" cy="138499"/>
          </a:xfrm>
          <a:prstGeom prst="rect">
            <a:avLst/>
          </a:prstGeom>
          <a:noFill/>
        </p:spPr>
        <p:txBody>
          <a:bodyPr vert="horz" wrap="square" lIns="0" tIns="0" rIns="0" bIns="0" rtlCol="0">
            <a:spAutoFit/>
          </a:bodyPr>
          <a:lstStyle/>
          <a:p>
            <a:pPr>
              <a:spcAft>
                <a:spcPts val="800"/>
              </a:spcAft>
            </a:pPr>
            <a:r>
              <a:rPr lang="en-GB" sz="900">
                <a:solidFill>
                  <a:srgbClr val="B2BDC3"/>
                </a:solidFill>
                <a:latin typeface="Arial" panose="020B0604020202020204" pitchFamily="34" charset="0"/>
              </a:rPr>
              <a:t>PULSE / HEALTHCARE HACKATHON PROTOTYPE</a:t>
            </a:r>
          </a:p>
        </p:txBody>
      </p:sp>
      <p:sp>
        <p:nvSpPr>
          <p:cNvPr id="8" name="TextBox 7">
            <a:extLst>
              <a:ext uri="{FF2B5EF4-FFF2-40B4-BE49-F238E27FC236}">
                <a16:creationId xmlns:a16="http://schemas.microsoft.com/office/drawing/2014/main" id="{5193E6ED-EED5-896F-DB31-105C56619EF1}"/>
              </a:ext>
            </a:extLst>
          </p:cNvPr>
          <p:cNvSpPr txBox="1"/>
          <p:nvPr/>
        </p:nvSpPr>
        <p:spPr>
          <a:xfrm>
            <a:off x="11163300" y="6400800"/>
            <a:ext cx="444500" cy="184666"/>
          </a:xfrm>
          <a:prstGeom prst="rect">
            <a:avLst/>
          </a:prstGeom>
          <a:noFill/>
        </p:spPr>
        <p:txBody>
          <a:bodyPr vert="horz" wrap="square" lIns="0" tIns="0" rIns="0" bIns="0" rtlCol="0">
            <a:spAutoFit/>
          </a:bodyPr>
          <a:lstStyle/>
          <a:p>
            <a:pPr>
              <a:spcAft>
                <a:spcPts val="800"/>
              </a:spcAft>
            </a:pPr>
            <a:r>
              <a:rPr lang="en-GB" sz="1200" b="1">
                <a:solidFill>
                  <a:srgbClr val="F16B6B"/>
                </a:solidFill>
                <a:latin typeface="Arial" panose="020B0604020202020204" pitchFamily="34" charset="0"/>
              </a:rPr>
              <a:t>06</a:t>
            </a:r>
          </a:p>
        </p:txBody>
      </p:sp>
      <p:sp>
        <p:nvSpPr>
          <p:cNvPr id="9" name="TextBox 8">
            <a:extLst>
              <a:ext uri="{FF2B5EF4-FFF2-40B4-BE49-F238E27FC236}">
                <a16:creationId xmlns:a16="http://schemas.microsoft.com/office/drawing/2014/main" id="{7756044E-FC7C-F0E7-05CC-4A8315AFF613}"/>
              </a:ext>
            </a:extLst>
          </p:cNvPr>
          <p:cNvSpPr txBox="1"/>
          <p:nvPr/>
        </p:nvSpPr>
        <p:spPr>
          <a:xfrm>
            <a:off x="584200" y="1244600"/>
            <a:ext cx="11023600" cy="553998"/>
          </a:xfrm>
          <a:prstGeom prst="rect">
            <a:avLst/>
          </a:prstGeom>
          <a:noFill/>
        </p:spPr>
        <p:txBody>
          <a:bodyPr vert="horz" wrap="square" lIns="0" tIns="0" rIns="0" bIns="0" rtlCol="0">
            <a:spAutoFit/>
          </a:bodyPr>
          <a:lstStyle/>
          <a:p>
            <a:pPr>
              <a:spcAft>
                <a:spcPts val="800"/>
              </a:spcAft>
            </a:pPr>
            <a:r>
              <a:rPr lang="en-US" sz="3600" b="1">
                <a:solidFill>
                  <a:srgbClr val="F1F3F4"/>
                </a:solidFill>
                <a:latin typeface="Arial" panose="020B0604020202020204" pitchFamily="34" charset="0"/>
              </a:rPr>
              <a:t>Working demo and next steps</a:t>
            </a:r>
            <a:endParaRPr lang="en-GB" sz="3600" b="1">
              <a:solidFill>
                <a:srgbClr val="F1F3F4"/>
              </a:solidFill>
              <a:latin typeface="Arial" panose="020B0604020202020204" pitchFamily="34" charset="0"/>
            </a:endParaRPr>
          </a:p>
        </p:txBody>
      </p:sp>
      <p:sp>
        <p:nvSpPr>
          <p:cNvPr id="10" name="TextBox 9">
            <a:extLst>
              <a:ext uri="{FF2B5EF4-FFF2-40B4-BE49-F238E27FC236}">
                <a16:creationId xmlns:a16="http://schemas.microsoft.com/office/drawing/2014/main" id="{41699C65-799E-F7BE-05C8-DDF2A6317046}"/>
              </a:ext>
            </a:extLst>
          </p:cNvPr>
          <p:cNvSpPr txBox="1"/>
          <p:nvPr/>
        </p:nvSpPr>
        <p:spPr>
          <a:xfrm>
            <a:off x="584200" y="2489200"/>
            <a:ext cx="5143500" cy="384721"/>
          </a:xfrm>
          <a:prstGeom prst="rect">
            <a:avLst/>
          </a:prstGeom>
          <a:noFill/>
        </p:spPr>
        <p:txBody>
          <a:bodyPr vert="horz" wrap="square" lIns="0" tIns="0" rIns="0" bIns="0" rtlCol="0">
            <a:spAutoFit/>
          </a:bodyPr>
          <a:lstStyle/>
          <a:p>
            <a:pPr>
              <a:spcAft>
                <a:spcPts val="800"/>
              </a:spcAft>
            </a:pPr>
            <a:r>
              <a:rPr lang="en-GB" sz="2500" b="1">
                <a:solidFill>
                  <a:srgbClr val="F16B6B"/>
                </a:solidFill>
                <a:latin typeface="Arial" panose="020B0604020202020204" pitchFamily="34" charset="0"/>
              </a:rPr>
              <a:t>Working in the prototype</a:t>
            </a:r>
          </a:p>
        </p:txBody>
      </p:sp>
      <p:sp>
        <p:nvSpPr>
          <p:cNvPr id="11" name="TextBox 10">
            <a:extLst>
              <a:ext uri="{FF2B5EF4-FFF2-40B4-BE49-F238E27FC236}">
                <a16:creationId xmlns:a16="http://schemas.microsoft.com/office/drawing/2014/main" id="{7D7EEE29-1965-2352-DDFF-2E435B7532D5}"/>
              </a:ext>
            </a:extLst>
          </p:cNvPr>
          <p:cNvSpPr txBox="1"/>
          <p:nvPr/>
        </p:nvSpPr>
        <p:spPr>
          <a:xfrm>
            <a:off x="584200" y="3340100"/>
            <a:ext cx="5105400" cy="2026196"/>
          </a:xfrm>
          <a:prstGeom prst="rect">
            <a:avLst/>
          </a:prstGeom>
          <a:noFill/>
        </p:spPr>
        <p:txBody>
          <a:bodyPr vert="horz" wrap="square" lIns="0" tIns="0" rIns="0" bIns="0" rtlCol="0">
            <a:spAutoFit/>
          </a:bodyPr>
          <a:lstStyle/>
          <a:p>
            <a:pPr>
              <a:spcAft>
                <a:spcPts val="800"/>
              </a:spcAft>
            </a:pPr>
            <a:r>
              <a:rPr lang="en-US" sz="2100">
                <a:solidFill>
                  <a:srgbClr val="F1F3F4"/>
                </a:solidFill>
                <a:latin typeface="Arial" panose="020B0604020202020204" pitchFamily="34" charset="0"/>
              </a:rPr>
              <a:t>Patient and staff workflows
Oracle records through a protected reader
Chat and symptom-review demo</a:t>
            </a:r>
            <a:endParaRPr lang="en-GB" sz="2100">
              <a:solidFill>
                <a:srgbClr val="F1F3F4"/>
              </a:solidFill>
              <a:latin typeface="Arial" panose="020B0604020202020204" pitchFamily="34" charset="0"/>
            </a:endParaRPr>
          </a:p>
        </p:txBody>
      </p:sp>
      <p:sp>
        <p:nvSpPr>
          <p:cNvPr id="12" name="TextBox 11">
            <a:extLst>
              <a:ext uri="{FF2B5EF4-FFF2-40B4-BE49-F238E27FC236}">
                <a16:creationId xmlns:a16="http://schemas.microsoft.com/office/drawing/2014/main" id="{752D87E3-2CE7-334B-6718-0833EAEC1D7C}"/>
              </a:ext>
            </a:extLst>
          </p:cNvPr>
          <p:cNvSpPr txBox="1"/>
          <p:nvPr/>
        </p:nvSpPr>
        <p:spPr>
          <a:xfrm>
            <a:off x="6527800" y="2489200"/>
            <a:ext cx="5080000" cy="384721"/>
          </a:xfrm>
          <a:prstGeom prst="rect">
            <a:avLst/>
          </a:prstGeom>
          <a:noFill/>
        </p:spPr>
        <p:txBody>
          <a:bodyPr vert="horz" wrap="square" lIns="0" tIns="0" rIns="0" bIns="0" rtlCol="0">
            <a:spAutoFit/>
          </a:bodyPr>
          <a:lstStyle/>
          <a:p>
            <a:pPr>
              <a:spcAft>
                <a:spcPts val="800"/>
              </a:spcAft>
            </a:pPr>
            <a:r>
              <a:rPr lang="en-GB" sz="2500" b="1">
                <a:solidFill>
                  <a:srgbClr val="F16B6B"/>
                </a:solidFill>
                <a:latin typeface="Arial" panose="020B0604020202020204" pitchFamily="34" charset="0"/>
              </a:rPr>
              <a:t>Next integration checks</a:t>
            </a:r>
          </a:p>
        </p:txBody>
      </p:sp>
      <p:sp>
        <p:nvSpPr>
          <p:cNvPr id="13" name="TextBox 12">
            <a:extLst>
              <a:ext uri="{FF2B5EF4-FFF2-40B4-BE49-F238E27FC236}">
                <a16:creationId xmlns:a16="http://schemas.microsoft.com/office/drawing/2014/main" id="{A739EB4C-1652-CFD3-085F-D577D8247971}"/>
              </a:ext>
            </a:extLst>
          </p:cNvPr>
          <p:cNvSpPr txBox="1"/>
          <p:nvPr/>
        </p:nvSpPr>
        <p:spPr>
          <a:xfrm>
            <a:off x="6527800" y="3340100"/>
            <a:ext cx="5080000" cy="2026196"/>
          </a:xfrm>
          <a:prstGeom prst="rect">
            <a:avLst/>
          </a:prstGeom>
          <a:noFill/>
        </p:spPr>
        <p:txBody>
          <a:bodyPr vert="horz" wrap="square" lIns="0" tIns="0" rIns="0" bIns="0" rtlCol="0">
            <a:spAutoFit/>
          </a:bodyPr>
          <a:lstStyle/>
          <a:p>
            <a:pPr>
              <a:spcAft>
                <a:spcPts val="800"/>
              </a:spcAft>
            </a:pPr>
            <a:r>
              <a:rPr lang="en-US" sz="2100">
                <a:solidFill>
                  <a:srgbClr val="B2BDC3"/>
                </a:solidFill>
                <a:latin typeface="Arial" panose="020B0604020202020204" pitchFamily="34" charset="0"/>
              </a:rPr>
              <a:t>Verify a fresh sensor reading on screen
Save website actions to Oracle
Connect real login and AI inference</a:t>
            </a:r>
            <a:endParaRPr lang="en-GB" sz="2100">
              <a:solidFill>
                <a:srgbClr val="B2BDC3"/>
              </a:solidFill>
              <a:latin typeface="Arial" panose="020B0604020202020204" pitchFamily="34" charset="0"/>
            </a:endParaRPr>
          </a:p>
        </p:txBody>
      </p:sp>
    </p:spTree>
    <p:extLst>
      <p:ext uri="{BB962C8B-B14F-4D97-AF65-F5344CB8AC3E}">
        <p14:creationId xmlns:p14="http://schemas.microsoft.com/office/powerpoint/2010/main" val="195928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41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2A11B3-A9D0-5AFB-1D39-9FF2219152C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84200" y="368300"/>
            <a:ext cx="368300" cy="368300"/>
          </a:xfrm>
          <a:prstGeom prst="rect">
            <a:avLst/>
          </a:prstGeom>
        </p:spPr>
      </p:pic>
      <p:sp>
        <p:nvSpPr>
          <p:cNvPr id="4" name="TextBox 3">
            <a:extLst>
              <a:ext uri="{FF2B5EF4-FFF2-40B4-BE49-F238E27FC236}">
                <a16:creationId xmlns:a16="http://schemas.microsoft.com/office/drawing/2014/main" id="{B988FE8B-58F6-F306-36C4-CA200D905080}"/>
              </a:ext>
            </a:extLst>
          </p:cNvPr>
          <p:cNvSpPr txBox="1"/>
          <p:nvPr/>
        </p:nvSpPr>
        <p:spPr>
          <a:xfrm>
            <a:off x="1066800" y="355600"/>
            <a:ext cx="1397000" cy="353943"/>
          </a:xfrm>
          <a:prstGeom prst="rect">
            <a:avLst/>
          </a:prstGeom>
          <a:noFill/>
        </p:spPr>
        <p:txBody>
          <a:bodyPr vert="horz" wrap="square" lIns="0" tIns="0" rIns="0" bIns="0" rtlCol="0">
            <a:spAutoFit/>
          </a:bodyPr>
          <a:lstStyle/>
          <a:p>
            <a:pPr>
              <a:spcAft>
                <a:spcPts val="800"/>
              </a:spcAft>
            </a:pPr>
            <a:r>
              <a:rPr lang="en-GB" sz="2300" b="1">
                <a:solidFill>
                  <a:srgbClr val="F1F3F4"/>
                </a:solidFill>
                <a:latin typeface="Arial" panose="020B0604020202020204" pitchFamily="34" charset="0"/>
              </a:rPr>
              <a:t>pulse.</a:t>
            </a:r>
          </a:p>
        </p:txBody>
      </p:sp>
      <p:sp>
        <p:nvSpPr>
          <p:cNvPr id="5" name="TextBox 4">
            <a:extLst>
              <a:ext uri="{FF2B5EF4-FFF2-40B4-BE49-F238E27FC236}">
                <a16:creationId xmlns:a16="http://schemas.microsoft.com/office/drawing/2014/main" id="{1D83B3E6-A8F2-60A5-C991-51BCB75213BB}"/>
              </a:ext>
            </a:extLst>
          </p:cNvPr>
          <p:cNvSpPr txBox="1"/>
          <p:nvPr/>
        </p:nvSpPr>
        <p:spPr>
          <a:xfrm>
            <a:off x="7747000" y="457200"/>
            <a:ext cx="3810000" cy="169277"/>
          </a:xfrm>
          <a:prstGeom prst="rect">
            <a:avLst/>
          </a:prstGeom>
          <a:noFill/>
        </p:spPr>
        <p:txBody>
          <a:bodyPr vert="horz" wrap="square" lIns="0" tIns="0" rIns="0" bIns="0" rtlCol="0">
            <a:spAutoFit/>
          </a:bodyPr>
          <a:lstStyle/>
          <a:p>
            <a:pPr>
              <a:spcAft>
                <a:spcPts val="800"/>
              </a:spcAft>
            </a:pPr>
            <a:r>
              <a:rPr lang="en-GB" sz="1100">
                <a:solidFill>
                  <a:srgbClr val="B2BDC3"/>
                </a:solidFill>
                <a:latin typeface="Arial" panose="020B0604020202020204" pitchFamily="34" charset="0"/>
              </a:rPr>
              <a:t>Q&amp;A</a:t>
            </a:r>
          </a:p>
        </p:txBody>
      </p:sp>
      <p:sp>
        <p:nvSpPr>
          <p:cNvPr id="6" name="Rectangle 5">
            <a:extLst>
              <a:ext uri="{FF2B5EF4-FFF2-40B4-BE49-F238E27FC236}">
                <a16:creationId xmlns:a16="http://schemas.microsoft.com/office/drawing/2014/main" id="{61EBB34A-D9CF-2B98-E2A3-C9BE90414D71}"/>
              </a:ext>
            </a:extLst>
          </p:cNvPr>
          <p:cNvSpPr/>
          <p:nvPr/>
        </p:nvSpPr>
        <p:spPr>
          <a:xfrm>
            <a:off x="584200" y="6235700"/>
            <a:ext cx="11023600" cy="12700"/>
          </a:xfrm>
          <a:prstGeom prst="rect">
            <a:avLst/>
          </a:prstGeom>
          <a:solidFill>
            <a:srgbClr val="3844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B1BE6F04-C34B-AEAA-2D21-CBCB8C70EF1A}"/>
              </a:ext>
            </a:extLst>
          </p:cNvPr>
          <p:cNvSpPr txBox="1"/>
          <p:nvPr/>
        </p:nvSpPr>
        <p:spPr>
          <a:xfrm>
            <a:off x="584200" y="6438900"/>
            <a:ext cx="8763000" cy="138499"/>
          </a:xfrm>
          <a:prstGeom prst="rect">
            <a:avLst/>
          </a:prstGeom>
          <a:noFill/>
        </p:spPr>
        <p:txBody>
          <a:bodyPr vert="horz" wrap="square" lIns="0" tIns="0" rIns="0" bIns="0" rtlCol="0">
            <a:spAutoFit/>
          </a:bodyPr>
          <a:lstStyle/>
          <a:p>
            <a:pPr>
              <a:spcAft>
                <a:spcPts val="800"/>
              </a:spcAft>
            </a:pPr>
            <a:r>
              <a:rPr lang="en-GB" sz="900">
                <a:solidFill>
                  <a:srgbClr val="B2BDC3"/>
                </a:solidFill>
                <a:latin typeface="Arial" panose="020B0604020202020204" pitchFamily="34" charset="0"/>
              </a:rPr>
              <a:t>PULSE / HEALTHCARE HACKATHON PROTOTYPE</a:t>
            </a:r>
          </a:p>
        </p:txBody>
      </p:sp>
      <p:sp>
        <p:nvSpPr>
          <p:cNvPr id="8" name="TextBox 7">
            <a:extLst>
              <a:ext uri="{FF2B5EF4-FFF2-40B4-BE49-F238E27FC236}">
                <a16:creationId xmlns:a16="http://schemas.microsoft.com/office/drawing/2014/main" id="{9A99F845-7E68-608E-4E46-31CB5F1AEAB3}"/>
              </a:ext>
            </a:extLst>
          </p:cNvPr>
          <p:cNvSpPr txBox="1"/>
          <p:nvPr/>
        </p:nvSpPr>
        <p:spPr>
          <a:xfrm>
            <a:off x="11163300" y="6400800"/>
            <a:ext cx="444500" cy="184666"/>
          </a:xfrm>
          <a:prstGeom prst="rect">
            <a:avLst/>
          </a:prstGeom>
          <a:noFill/>
        </p:spPr>
        <p:txBody>
          <a:bodyPr vert="horz" wrap="square" lIns="0" tIns="0" rIns="0" bIns="0" rtlCol="0">
            <a:spAutoFit/>
          </a:bodyPr>
          <a:lstStyle/>
          <a:p>
            <a:pPr>
              <a:spcAft>
                <a:spcPts val="800"/>
              </a:spcAft>
            </a:pPr>
            <a:r>
              <a:rPr lang="en-GB" sz="1200" b="1">
                <a:solidFill>
                  <a:srgbClr val="F16B6B"/>
                </a:solidFill>
                <a:latin typeface="Arial" panose="020B0604020202020204" pitchFamily="34" charset="0"/>
              </a:rPr>
              <a:t>07</a:t>
            </a:r>
          </a:p>
        </p:txBody>
      </p:sp>
      <p:sp>
        <p:nvSpPr>
          <p:cNvPr id="9" name="TextBox 8">
            <a:extLst>
              <a:ext uri="{FF2B5EF4-FFF2-40B4-BE49-F238E27FC236}">
                <a16:creationId xmlns:a16="http://schemas.microsoft.com/office/drawing/2014/main" id="{92A5CF04-F078-BAD0-C367-B7C84E36959F}"/>
              </a:ext>
            </a:extLst>
          </p:cNvPr>
          <p:cNvSpPr txBox="1"/>
          <p:nvPr/>
        </p:nvSpPr>
        <p:spPr>
          <a:xfrm>
            <a:off x="584200" y="2324100"/>
            <a:ext cx="10795000" cy="1107996"/>
          </a:xfrm>
          <a:prstGeom prst="rect">
            <a:avLst/>
          </a:prstGeom>
          <a:noFill/>
        </p:spPr>
        <p:txBody>
          <a:bodyPr vert="horz" wrap="square" lIns="0" tIns="0" rIns="0" bIns="0" rtlCol="0">
            <a:spAutoFit/>
          </a:bodyPr>
          <a:lstStyle/>
          <a:p>
            <a:pPr>
              <a:spcAft>
                <a:spcPts val="800"/>
              </a:spcAft>
            </a:pPr>
            <a:r>
              <a:rPr lang="en-GB" sz="7200" b="1">
                <a:solidFill>
                  <a:srgbClr val="F1F3F4"/>
                </a:solidFill>
                <a:latin typeface="Arial" panose="020B0604020202020204" pitchFamily="34" charset="0"/>
              </a:rPr>
              <a:t>Questions?</a:t>
            </a:r>
          </a:p>
        </p:txBody>
      </p:sp>
      <p:sp>
        <p:nvSpPr>
          <p:cNvPr id="10" name="TextBox 9">
            <a:extLst>
              <a:ext uri="{FF2B5EF4-FFF2-40B4-BE49-F238E27FC236}">
                <a16:creationId xmlns:a16="http://schemas.microsoft.com/office/drawing/2014/main" id="{C95E398D-6528-EF25-AB28-B0ACB2A32F7F}"/>
              </a:ext>
            </a:extLst>
          </p:cNvPr>
          <p:cNvSpPr txBox="1"/>
          <p:nvPr/>
        </p:nvSpPr>
        <p:spPr>
          <a:xfrm>
            <a:off x="635000" y="3911600"/>
            <a:ext cx="10160000" cy="430887"/>
          </a:xfrm>
          <a:prstGeom prst="rect">
            <a:avLst/>
          </a:prstGeom>
          <a:noFill/>
        </p:spPr>
        <p:txBody>
          <a:bodyPr vert="horz" wrap="square" lIns="0" tIns="0" rIns="0" bIns="0" rtlCol="0">
            <a:spAutoFit/>
          </a:bodyPr>
          <a:lstStyle/>
          <a:p>
            <a:pPr>
              <a:spcAft>
                <a:spcPts val="800"/>
              </a:spcAft>
            </a:pPr>
            <a:r>
              <a:rPr lang="en-US" sz="2800">
                <a:solidFill>
                  <a:srgbClr val="F16B6B"/>
                </a:solidFill>
                <a:latin typeface="Arial" panose="020B0604020202020204" pitchFamily="34" charset="0"/>
              </a:rPr>
              <a:t>We can walk through the prototype</a:t>
            </a:r>
            <a:endParaRPr lang="en-GB" sz="2800">
              <a:solidFill>
                <a:srgbClr val="F16B6B"/>
              </a:solidFill>
              <a:latin typeface="Arial" panose="020B0604020202020204" pitchFamily="34" charset="0"/>
            </a:endParaRPr>
          </a:p>
        </p:txBody>
      </p:sp>
      <p:pic>
        <p:nvPicPr>
          <p:cNvPr id="12" name="Picture 11">
            <a:extLst>
              <a:ext uri="{FF2B5EF4-FFF2-40B4-BE49-F238E27FC236}">
                <a16:creationId xmlns:a16="http://schemas.microsoft.com/office/drawing/2014/main" id="{6C7882F2-C110-C0EB-3680-BC7109726C7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112000" y="4699000"/>
            <a:ext cx="4445000" cy="1168400"/>
          </a:xfrm>
          <a:prstGeom prst="rect">
            <a:avLst/>
          </a:prstGeom>
        </p:spPr>
      </p:pic>
    </p:spTree>
    <p:extLst>
      <p:ext uri="{BB962C8B-B14F-4D97-AF65-F5344CB8AC3E}">
        <p14:creationId xmlns:p14="http://schemas.microsoft.com/office/powerpoint/2010/main" val="4025116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141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50FA8E-28ED-D678-2CC3-C9FE76E637E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84200" y="368300"/>
            <a:ext cx="368300" cy="368300"/>
          </a:xfrm>
          <a:prstGeom prst="rect">
            <a:avLst/>
          </a:prstGeom>
        </p:spPr>
      </p:pic>
      <p:sp>
        <p:nvSpPr>
          <p:cNvPr id="4" name="TextBox 3">
            <a:extLst>
              <a:ext uri="{FF2B5EF4-FFF2-40B4-BE49-F238E27FC236}">
                <a16:creationId xmlns:a16="http://schemas.microsoft.com/office/drawing/2014/main" id="{C2DA782A-1696-95F3-9201-9465E5C7A10F}"/>
              </a:ext>
            </a:extLst>
          </p:cNvPr>
          <p:cNvSpPr txBox="1"/>
          <p:nvPr/>
        </p:nvSpPr>
        <p:spPr>
          <a:xfrm>
            <a:off x="1066800" y="355600"/>
            <a:ext cx="1397000" cy="353943"/>
          </a:xfrm>
          <a:prstGeom prst="rect">
            <a:avLst/>
          </a:prstGeom>
          <a:noFill/>
        </p:spPr>
        <p:txBody>
          <a:bodyPr vert="horz" wrap="square" lIns="0" tIns="0" rIns="0" bIns="0" rtlCol="0">
            <a:spAutoFit/>
          </a:bodyPr>
          <a:lstStyle/>
          <a:p>
            <a:pPr>
              <a:spcAft>
                <a:spcPts val="800"/>
              </a:spcAft>
            </a:pPr>
            <a:r>
              <a:rPr lang="en-GB" sz="2300" b="1">
                <a:solidFill>
                  <a:srgbClr val="F1F3F4"/>
                </a:solidFill>
                <a:latin typeface="Arial" panose="020B0604020202020204" pitchFamily="34" charset="0"/>
              </a:rPr>
              <a:t>pulse.</a:t>
            </a:r>
          </a:p>
        </p:txBody>
      </p:sp>
      <p:sp>
        <p:nvSpPr>
          <p:cNvPr id="5" name="TextBox 4">
            <a:extLst>
              <a:ext uri="{FF2B5EF4-FFF2-40B4-BE49-F238E27FC236}">
                <a16:creationId xmlns:a16="http://schemas.microsoft.com/office/drawing/2014/main" id="{26A072B7-4453-56D8-C8CA-7142ECAA845B}"/>
              </a:ext>
            </a:extLst>
          </p:cNvPr>
          <p:cNvSpPr txBox="1"/>
          <p:nvPr/>
        </p:nvSpPr>
        <p:spPr>
          <a:xfrm>
            <a:off x="7747000" y="457200"/>
            <a:ext cx="3810000" cy="169277"/>
          </a:xfrm>
          <a:prstGeom prst="rect">
            <a:avLst/>
          </a:prstGeom>
          <a:noFill/>
        </p:spPr>
        <p:txBody>
          <a:bodyPr vert="horz" wrap="square" lIns="0" tIns="0" rIns="0" bIns="0" rtlCol="0">
            <a:spAutoFit/>
          </a:bodyPr>
          <a:lstStyle/>
          <a:p>
            <a:pPr>
              <a:spcAft>
                <a:spcPts val="800"/>
              </a:spcAft>
            </a:pPr>
            <a:r>
              <a:rPr lang="en-GB" sz="1100">
                <a:solidFill>
                  <a:srgbClr val="B2BDC3"/>
                </a:solidFill>
                <a:latin typeface="Arial" panose="020B0604020202020204" pitchFamily="34" charset="0"/>
              </a:rPr>
              <a:t>SPARE CONTENT LAYOUT</a:t>
            </a:r>
          </a:p>
        </p:txBody>
      </p:sp>
      <p:sp>
        <p:nvSpPr>
          <p:cNvPr id="6" name="Rectangle 5">
            <a:extLst>
              <a:ext uri="{FF2B5EF4-FFF2-40B4-BE49-F238E27FC236}">
                <a16:creationId xmlns:a16="http://schemas.microsoft.com/office/drawing/2014/main" id="{BE8F8101-303D-93B8-19B5-3340F4ED2EC2}"/>
              </a:ext>
            </a:extLst>
          </p:cNvPr>
          <p:cNvSpPr/>
          <p:nvPr/>
        </p:nvSpPr>
        <p:spPr>
          <a:xfrm>
            <a:off x="584200" y="6235700"/>
            <a:ext cx="11023600" cy="12700"/>
          </a:xfrm>
          <a:prstGeom prst="rect">
            <a:avLst/>
          </a:prstGeom>
          <a:solidFill>
            <a:srgbClr val="3844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1FA4CE5D-CA98-5353-A0F9-BF0FD8528033}"/>
              </a:ext>
            </a:extLst>
          </p:cNvPr>
          <p:cNvSpPr txBox="1"/>
          <p:nvPr/>
        </p:nvSpPr>
        <p:spPr>
          <a:xfrm>
            <a:off x="584200" y="6438900"/>
            <a:ext cx="8763000" cy="138499"/>
          </a:xfrm>
          <a:prstGeom prst="rect">
            <a:avLst/>
          </a:prstGeom>
          <a:noFill/>
        </p:spPr>
        <p:txBody>
          <a:bodyPr vert="horz" wrap="square" lIns="0" tIns="0" rIns="0" bIns="0" rtlCol="0">
            <a:spAutoFit/>
          </a:bodyPr>
          <a:lstStyle/>
          <a:p>
            <a:pPr>
              <a:spcAft>
                <a:spcPts val="800"/>
              </a:spcAft>
            </a:pPr>
            <a:r>
              <a:rPr lang="en-GB" sz="900">
                <a:solidFill>
                  <a:srgbClr val="B2BDC3"/>
                </a:solidFill>
                <a:latin typeface="Arial" panose="020B0604020202020204" pitchFamily="34" charset="0"/>
              </a:rPr>
              <a:t>PULSE / HEALTHCARE HACKATHON PROTOTYPE</a:t>
            </a:r>
          </a:p>
        </p:txBody>
      </p:sp>
      <p:sp>
        <p:nvSpPr>
          <p:cNvPr id="8" name="TextBox 7">
            <a:extLst>
              <a:ext uri="{FF2B5EF4-FFF2-40B4-BE49-F238E27FC236}">
                <a16:creationId xmlns:a16="http://schemas.microsoft.com/office/drawing/2014/main" id="{F7D6655F-25CF-2D59-9A8A-048202883460}"/>
              </a:ext>
            </a:extLst>
          </p:cNvPr>
          <p:cNvSpPr txBox="1"/>
          <p:nvPr/>
        </p:nvSpPr>
        <p:spPr>
          <a:xfrm>
            <a:off x="11163300" y="6400800"/>
            <a:ext cx="444500" cy="184666"/>
          </a:xfrm>
          <a:prstGeom prst="rect">
            <a:avLst/>
          </a:prstGeom>
          <a:noFill/>
        </p:spPr>
        <p:txBody>
          <a:bodyPr vert="horz" wrap="square" lIns="0" tIns="0" rIns="0" bIns="0" rtlCol="0">
            <a:spAutoFit/>
          </a:bodyPr>
          <a:lstStyle/>
          <a:p>
            <a:pPr>
              <a:spcAft>
                <a:spcPts val="800"/>
              </a:spcAft>
            </a:pPr>
            <a:r>
              <a:rPr lang="en-GB" sz="1200" b="1">
                <a:solidFill>
                  <a:srgbClr val="F16B6B"/>
                </a:solidFill>
                <a:latin typeface="Arial" panose="020B0604020202020204" pitchFamily="34" charset="0"/>
              </a:rPr>
              <a:t>08</a:t>
            </a:r>
          </a:p>
        </p:txBody>
      </p:sp>
      <p:sp>
        <p:nvSpPr>
          <p:cNvPr id="9" name="TextBox 8">
            <a:extLst>
              <a:ext uri="{FF2B5EF4-FFF2-40B4-BE49-F238E27FC236}">
                <a16:creationId xmlns:a16="http://schemas.microsoft.com/office/drawing/2014/main" id="{6DE48106-96D7-FB75-BB8F-AE831832E5A6}"/>
              </a:ext>
            </a:extLst>
          </p:cNvPr>
          <p:cNvSpPr txBox="1"/>
          <p:nvPr/>
        </p:nvSpPr>
        <p:spPr>
          <a:xfrm>
            <a:off x="584200" y="1244600"/>
            <a:ext cx="11023600" cy="553998"/>
          </a:xfrm>
          <a:prstGeom prst="rect">
            <a:avLst/>
          </a:prstGeom>
          <a:noFill/>
        </p:spPr>
        <p:txBody>
          <a:bodyPr vert="horz" wrap="square" lIns="0" tIns="0" rIns="0" bIns="0" rtlCol="0">
            <a:spAutoFit/>
          </a:bodyPr>
          <a:lstStyle/>
          <a:p>
            <a:pPr>
              <a:spcAft>
                <a:spcPts val="800"/>
              </a:spcAft>
            </a:pPr>
            <a:r>
              <a:rPr lang="en-GB" sz="3600" b="1">
                <a:solidFill>
                  <a:srgbClr val="F1F3F4"/>
                </a:solidFill>
                <a:latin typeface="Arial" panose="020B0604020202020204" pitchFamily="34" charset="0"/>
              </a:rPr>
              <a:t>[Your section title]</a:t>
            </a:r>
          </a:p>
        </p:txBody>
      </p:sp>
      <p:sp>
        <p:nvSpPr>
          <p:cNvPr id="10" name="TextBox 9">
            <a:extLst>
              <a:ext uri="{FF2B5EF4-FFF2-40B4-BE49-F238E27FC236}">
                <a16:creationId xmlns:a16="http://schemas.microsoft.com/office/drawing/2014/main" id="{30935E3A-283E-48D4-5FD8-315F6ACB2381}"/>
              </a:ext>
            </a:extLst>
          </p:cNvPr>
          <p:cNvSpPr txBox="1"/>
          <p:nvPr/>
        </p:nvSpPr>
        <p:spPr>
          <a:xfrm>
            <a:off x="584200" y="2476500"/>
            <a:ext cx="5207000" cy="984885"/>
          </a:xfrm>
          <a:prstGeom prst="rect">
            <a:avLst/>
          </a:prstGeom>
          <a:noFill/>
        </p:spPr>
        <p:txBody>
          <a:bodyPr vert="horz" wrap="square" lIns="0" tIns="0" rIns="0" bIns="0" rtlCol="0">
            <a:spAutoFit/>
          </a:bodyPr>
          <a:lstStyle/>
          <a:p>
            <a:pPr>
              <a:spcAft>
                <a:spcPts val="800"/>
              </a:spcAft>
            </a:pPr>
            <a:r>
              <a:rPr lang="en-US" sz="3200" b="1">
                <a:solidFill>
                  <a:srgbClr val="F16B6B"/>
                </a:solidFill>
                <a:latin typeface="Arial" panose="020B0604020202020204" pitchFamily="34" charset="0"/>
              </a:rPr>
              <a:t>[One clear point about this part of Pulse]</a:t>
            </a:r>
            <a:endParaRPr lang="en-GB" sz="3200" b="1">
              <a:solidFill>
                <a:srgbClr val="F16B6B"/>
              </a:solidFill>
              <a:latin typeface="Arial" panose="020B0604020202020204" pitchFamily="34" charset="0"/>
            </a:endParaRPr>
          </a:p>
        </p:txBody>
      </p:sp>
      <p:sp>
        <p:nvSpPr>
          <p:cNvPr id="11" name="TextBox 10">
            <a:extLst>
              <a:ext uri="{FF2B5EF4-FFF2-40B4-BE49-F238E27FC236}">
                <a16:creationId xmlns:a16="http://schemas.microsoft.com/office/drawing/2014/main" id="{E08F94B1-3C15-767D-D3AC-EC4A4ADB6D92}"/>
              </a:ext>
            </a:extLst>
          </p:cNvPr>
          <p:cNvSpPr txBox="1"/>
          <p:nvPr/>
        </p:nvSpPr>
        <p:spPr>
          <a:xfrm>
            <a:off x="584200" y="4445000"/>
            <a:ext cx="5207000" cy="1128514"/>
          </a:xfrm>
          <a:prstGeom prst="rect">
            <a:avLst/>
          </a:prstGeom>
          <a:noFill/>
        </p:spPr>
        <p:txBody>
          <a:bodyPr vert="horz" wrap="square" lIns="0" tIns="0" rIns="0" bIns="0" rtlCol="0">
            <a:spAutoFit/>
          </a:bodyPr>
          <a:lstStyle/>
          <a:p>
            <a:pPr>
              <a:spcAft>
                <a:spcPts val="800"/>
              </a:spcAft>
            </a:pPr>
            <a:r>
              <a:rPr lang="en-US" sz="2000">
                <a:solidFill>
                  <a:srgbClr val="B2BDC3"/>
                </a:solidFill>
                <a:latin typeface="Arial" panose="020B0604020202020204" pitchFamily="34" charset="0"/>
              </a:rPr>
              <a:t>[Add a short explanation]
[Add your verified result or next step]</a:t>
            </a:r>
            <a:endParaRPr lang="en-GB" sz="2000">
              <a:solidFill>
                <a:srgbClr val="B2BDC3"/>
              </a:solidFill>
              <a:latin typeface="Arial" panose="020B0604020202020204" pitchFamily="34" charset="0"/>
            </a:endParaRPr>
          </a:p>
        </p:txBody>
      </p:sp>
      <p:sp>
        <p:nvSpPr>
          <p:cNvPr id="12" name="TextBox 11">
            <a:extLst>
              <a:ext uri="{FF2B5EF4-FFF2-40B4-BE49-F238E27FC236}">
                <a16:creationId xmlns:a16="http://schemas.microsoft.com/office/drawing/2014/main" id="{73B4EF90-63D9-0CCF-E590-33674FE8BED7}"/>
              </a:ext>
            </a:extLst>
          </p:cNvPr>
          <p:cNvSpPr txBox="1"/>
          <p:nvPr/>
        </p:nvSpPr>
        <p:spPr>
          <a:xfrm>
            <a:off x="6667500" y="3111500"/>
            <a:ext cx="4699000" cy="1210588"/>
          </a:xfrm>
          <a:prstGeom prst="rect">
            <a:avLst/>
          </a:prstGeom>
          <a:noFill/>
        </p:spPr>
        <p:txBody>
          <a:bodyPr vert="horz" wrap="square" lIns="0" tIns="0" rIns="0" bIns="0" rtlCol="0">
            <a:spAutoFit/>
          </a:bodyPr>
          <a:lstStyle/>
          <a:p>
            <a:pPr>
              <a:spcAft>
                <a:spcPts val="800"/>
              </a:spcAft>
            </a:pPr>
            <a:r>
              <a:rPr lang="en-US" sz="2400">
                <a:solidFill>
                  <a:srgbClr val="B2BDC3"/>
                </a:solidFill>
                <a:latin typeface="Arial" panose="020B0604020202020204" pitchFamily="34" charset="0"/>
              </a:rPr>
              <a:t>[Place your hardware photo,
model chart or demo screenshot here]</a:t>
            </a:r>
            <a:endParaRPr lang="en-GB" sz="2400">
              <a:solidFill>
                <a:srgbClr val="B2BDC3"/>
              </a:solidFill>
              <a:latin typeface="Arial" panose="020B0604020202020204" pitchFamily="34" charset="0"/>
            </a:endParaRPr>
          </a:p>
        </p:txBody>
      </p:sp>
    </p:spTree>
    <p:extLst>
      <p:ext uri="{BB962C8B-B14F-4D97-AF65-F5344CB8AC3E}">
        <p14:creationId xmlns:p14="http://schemas.microsoft.com/office/powerpoint/2010/main" val="436649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998</Words>
  <Application>Microsoft Office PowerPoint</Application>
  <PresentationFormat>Custom</PresentationFormat>
  <Paragraphs>97</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sherif</dc:creator>
  <cp:lastModifiedBy>mohamed sherif</cp:lastModifiedBy>
  <cp:revision>1</cp:revision>
  <dcterms:created xsi:type="dcterms:W3CDTF">2026-10-25T09:51:46Z</dcterms:created>
  <dcterms:modified xsi:type="dcterms:W3CDTF">2026-10-25T09:51:46Z</dcterms:modified>
</cp:coreProperties>
</file>